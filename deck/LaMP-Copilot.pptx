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da40f2f-14d2-67dc-8080-c2467c72b926}">
          <p14:sldIdLst>
            <p14:sldId id="256"/>
            <p14:sldId id="257"/>
          </p14:sldIdLst>
        </p14:section>
        <p14:section name="Problem" id="{0d7cd5ec-13a6-a6c8-7ada-d1e1202ebf5e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Solution" id="{8d50ef08-f827-819a-71ed-1617e8d8cd82}">
          <p14:sldIdLst>
            <p14:sldId id="264"/>
            <p14:sldId id="265"/>
          </p14:sldIdLst>
        </p14:section>
        <p14:section name="How it works" id="{00537ea1-4ce8-4226-0590-fdcad8cc7230}">
          <p14:sldIdLst>
            <p14:sldId id="266"/>
            <p14:sldId id="267"/>
            <p14:sldId id="268"/>
            <p14:sldId id="269"/>
            <p14:sldId id="270"/>
          </p14:sldIdLst>
        </p14:section>
        <p14:section name="Product" id="{8fdfcc74-5026-5312-7141-2352f3c97907}">
          <p14:sldIdLst>
            <p14:sldId id="271"/>
            <p14:sldId id="272"/>
          </p14:sldIdLst>
        </p14:section>
        <p14:section name="Trust" id="{67209dda-e1c4-7dab-d9ec-864cb51f97fd}">
          <p14:sldIdLst>
            <p14:sldId id="273"/>
            <p14:sldId id="274"/>
          </p14:sldIdLst>
        </p14:section>
        <p14:section name="Market" id="{3ed9abf6-d67b-d93d-1b1a-e2f408062916}">
          <p14:sldIdLst>
            <p14:sldId id="275"/>
            <p14:sldId id="276"/>
            <p14:sldId id="277"/>
            <p14:sldId id="278"/>
          </p14:sldIdLst>
        </p14:section>
        <p14:section name="Close" id="{6097fe64-91fe-43e6-f6a7-0a3062896eb3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D">
    <p:bg>
      <p:bgPr>
        <a:solidFill>
          <a:srgbClr val="BD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 w="12700">
            <a:solidFill>
              <a:srgbClr val="000000">
                <a:alpha val="58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171" y="502920"/>
            <a:ext cx="1329354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965960"/>
            <a:ext cx="112772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</a:t>
            </a:r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-Copilot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301752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for neighbourhood pharmacies in Bangladesh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1828800" y="3611880"/>
            <a:ext cx="8534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DEDE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Real accounts from paper records, early warning of cash trouble, and the cheapest way to fund every order.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2072488" y="4800600"/>
            <a:ext cx="8046720" cy="457200"/>
          </a:xfrm>
          <a:prstGeom prst="roundRect">
            <a:avLst>
              <a:gd name="adj" fmla="val 100000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072488" y="4800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FINTECHATHON 2026  ·  INTERNATIONAL TRACK  ·  TOPIC E: SME FINANCE COPILOT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(team lead)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coun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280160" y="1554480"/>
            <a:ext cx="96313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Last month, Green Life Pharmacy in Bogura sold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412,500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 of medicine and kept only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BDT 13,500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 The owner couldn't see it: every number lived in a 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4B4B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stack of paper</a:t>
            </a:r>
            <a:pPr algn="ctr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SITUATION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Manufacturing Triumph: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solidFill>
            <a:srgbClr val="1FA463"/>
          </a:solidFill>
          <a:ln w="12700">
            <a:solidFill>
              <a:srgbClr val="1FA4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1353312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PHARMACEUTICAL MARKET</a:t>
            </a:r>
            <a:endParaRPr lang="en-US" sz="1050" dirty="0"/>
          </a:p>
        </p:txBody>
      </p:sp>
      <p:pic>
        <p:nvPicPr>
          <p:cNvPr id="7" name="Image 0" descr="D:\Downloads\shenzhen\deck\assets\bc\green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664208"/>
            <a:ext cx="5257800" cy="1600200"/>
          </a:xfrm>
          <a:prstGeom prst="rect">
            <a:avLst/>
          </a:prstGeom>
        </p:spPr>
      </p:pic>
      <p:pic>
        <p:nvPicPr>
          <p:cNvPr id="8" name="Image 1" descr="D:\Downloads\shenzhen\deck\assets\bc\map-fa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386" y="1700784"/>
            <a:ext cx="1096869" cy="1508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$ 3.3 Billion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market size, MAT Q1 2026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181051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~11%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4-year growth (CAGR)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1.83%+  </a:t>
            </a:r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of GDP</a:t>
            </a:r>
            <a:endParaRPr lang="en-US" sz="1800" dirty="0"/>
          </a:p>
        </p:txBody>
      </p:sp>
      <p:pic>
        <p:nvPicPr>
          <p:cNvPr id="12" name="Image 2" descr="D:\Downloads\shenzhen\deck\assets\bc\don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74720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4564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98% of Demand Met Locally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785616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About 213 working manufacturers make nearly all the medicine. Supply isn't the bottleneck; paying for it at the last mile is.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4663440"/>
            <a:ext cx="5257800" cy="86868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02920" y="4663440"/>
            <a:ext cx="54864" cy="86868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4700016"/>
            <a:ext cx="49834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Credit flows informally and invisibly between makers and shops, at a cost no one measures.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6172200" y="960120"/>
            <a:ext cx="5516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Last-Mile Retail Reality: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172200" y="1353312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0" name="Image 3" descr="D:\Downloads\shenzhen\deck\assets\bc\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2977" y="1481328"/>
            <a:ext cx="461406" cy="5486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40880" y="1426464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173,500+ Licensed Pharmacies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040880" y="1719072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 up to 100,000 unlicensed shops, mostly small and owner-run.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172200" y="2249424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4" name="Image 4" descr="D:\Downloads\shenzhen\deck\assets\bc\handcas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394585"/>
            <a:ext cx="548640" cy="51435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2322576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Thin 10–15% Margins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2615184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Chemists are publicly demanding a higher commission from drug makers.</a:t>
            </a:r>
            <a:endParaRPr lang="en-US" sz="1150" dirty="0"/>
          </a:p>
        </p:txBody>
      </p:sp>
      <p:sp>
        <p:nvSpPr>
          <p:cNvPr id="27" name="Shape 20"/>
          <p:cNvSpPr/>
          <p:nvPr/>
        </p:nvSpPr>
        <p:spPr>
          <a:xfrm>
            <a:off x="6172200" y="3145536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28" name="Image 5" descr="D:\Downloads\shenzhen\deck\assets\bc\credi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73552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040880" y="3218688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Forced Credit Dependency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040880" y="3511296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invoices and supplier credit from 10–50 drug companies each.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172200" y="4041648"/>
            <a:ext cx="5516575" cy="80467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pic>
        <p:nvPicPr>
          <p:cNvPr id="32" name="Image 6" descr="D:\Downloads\shenzhen\deck\assets\bc\warn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4184130"/>
            <a:ext cx="548640" cy="519708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040880" y="411480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and Patient Credit</a:t>
            </a:r>
            <a:endParaRPr lang="en-US" sz="1300" dirty="0"/>
          </a:p>
        </p:txBody>
      </p:sp>
      <p:sp>
        <p:nvSpPr>
          <p:cNvPr id="34" name="Text 25"/>
          <p:cNvSpPr txBox="1"/>
          <p:nvPr/>
        </p:nvSpPr>
        <p:spPr>
          <a:xfrm>
            <a:off x="7040880" y="4407408"/>
            <a:ext cx="45564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Unsold stock expires as pure loss; patients buy on credit too.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1234440" y="5669280"/>
            <a:ext cx="9722815" cy="566928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371600" y="5669280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LAST MILE RUNS A MULTI-SUPPLIER CREDIT BUSINESS ON PAPER, WITH NO VIEW OF CASH, EXPIRY OR BORROWING COST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502920" y="63093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IQVIA MAT Q1 2026 (via industry reports); BAPI; DGDA (via Financial Express, Innovision); Springer; UNB.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MEET GREEN LIFE PHARMACY, BOGURA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25158" y="576072"/>
            <a:ext cx="463052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shop behind every number in this deck.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Illustrative but consistent; our engines and tests reproduce each figure exactly.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0876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Last 30 Days: Profit and Loss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868680"/>
                <a:gridCol w="26974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Line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means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412,500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From the sales book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Gross profit at a 12% margin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49,500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After the cost of medicine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Rent, salaries, utilities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36,000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Fixed overheads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Net profit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13,500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What the owner keeps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02920" y="3520440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Snapshot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22192"/>
          <a:ext cx="562356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143000"/>
                <a:gridCol w="24231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Item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Value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Read as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Stock on shelves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210,000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17.4 days of purchases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Owed by patients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BDT 38,000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2.8 days of sales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Active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23 sets of dues to track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invoices, 3 months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41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38 paid on time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00800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18,400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expires within 60 days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 batches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9136228" y="150876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36228" y="161848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9227668" y="213055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still go back to suppliers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9227668" y="239572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68% of a month's profit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400800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0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60,000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6492240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 stock-up order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492240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due Mon 26 Oct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9136228" y="2926080"/>
            <a:ext cx="2552548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36228" y="3035808"/>
            <a:ext cx="25525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41,000</a:t>
            </a:r>
            <a:endParaRPr lang="en-US" sz="2400" dirty="0"/>
          </a:p>
        </p:txBody>
      </p:sp>
      <p:sp>
        <p:nvSpPr>
          <p:cNvPr id="26" name="Text 22"/>
          <p:cNvSpPr txBox="1"/>
          <p:nvPr/>
        </p:nvSpPr>
        <p:spPr>
          <a:xfrm>
            <a:off x="9227668" y="3547872"/>
            <a:ext cx="2369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forecast cash on that day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9227668" y="3813048"/>
            <a:ext cx="2369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short BDT 19,000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400800" y="4416552"/>
            <a:ext cx="5287975" cy="960120"/>
          </a:xfrm>
          <a:prstGeom prst="roundRect">
            <a:avLst>
              <a:gd name="adj" fmla="val 4762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4416552"/>
            <a:ext cx="4830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One expired batch or one unnecessary loan can wipe out a week of profit.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02920" y="5623560"/>
            <a:ext cx="11185855" cy="658368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02920" y="5623560"/>
            <a:ext cx="54864" cy="658368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5660136"/>
            <a:ext cx="1091153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of it lives in 41 paper invoices and a handwritten sales book, so not even the owner can see it.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interi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(LOCAL PHARMACIES)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LOCAL PHARMACIES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PHARMACIES RUN A CREDIT BUSINESS WITH 10–50 SUPPLIERS ON PAPER, SO CASH CRUNCHES AND EXPIRY LOSSES STAY INVISIBLE UNTIL TOO LATE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warn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9734" y="1537272"/>
            <a:ext cx="422453" cy="40017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VIEW OF PROFIT, DUES OR STOCK: ONLY PAPER RECORDS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ala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99928"/>
            <a:ext cx="422453" cy="24996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RUNS SHORT BEFORE BIG SUPPLIER PAYMENTS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EXPIRED STOCK IS PURE LOSS; RETURNS GO UNCLAIMED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a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3797" y="4488790"/>
            <a:ext cx="374325" cy="422453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PATIENTS BUY ON CREDIT WHILE THE SHOP OWES SUPPLIERS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coin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9734" y="5494507"/>
            <a:ext cx="422453" cy="38612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WAY TO TELL THE CHEAPEST LOAN, OR IF ONE IS NEEDED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an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3550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355080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>
                <a:alpha val="55000"/>
              </a:srgbClr>
            </a:solidFill>
            <a:prstDash val="solid"/>
          </a:ln>
        </p:spPr>
      </p:sp>
      <p:pic>
        <p:nvPicPr>
          <p:cNvPr id="4" name="Image 1" descr="D:\Downloads\shenzhen\deck\assets\bc\grad-gre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0"/>
            <a:ext cx="583661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5528" y="38404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PROBLEM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IDENTIFICATION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629400" y="384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(LENDERS)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5440680" cy="2743200"/>
          </a:xfrm>
          <a:prstGeom prst="rect">
            <a:avLst/>
          </a:prstGeom>
          <a:ln w="19050">
            <a:solidFill>
              <a:srgbClr val="FF4B4B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solidFill>
            <a:srgbClr val="1A1A1A">
              <a:alpha val="85000"/>
            </a:srgbClr>
          </a:solidFill>
          <a:ln w="12700">
            <a:solidFill>
              <a:srgbClr val="1A1A1A">
                <a:alpha val="8500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05840" y="1929384"/>
            <a:ext cx="4343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CORE ISSUE OF LENDERS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2514600"/>
            <a:ext cx="4892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LENDERS WANT SMALL-BUSINESS BORROWERS, BUT A PAPER-BASED PHARMACY GIVES THEM NOTHING TO VERIFY OR UNDERWRITE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914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SYMPTOMS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03720" y="1737360"/>
            <a:ext cx="0" cy="3950208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897880" y="3520440"/>
            <a:ext cx="10058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737360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60920" y="1417320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7" name="Image 2" descr="D:\Downloads\shenzhen\deck\assets\bc\c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797" y="1526134"/>
            <a:ext cx="374325" cy="42245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1371600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AUDITED ACCOUNTS, TAX RETURNS OR DIGITAL RECORDS TO ASSESS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903720" y="2724912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360920" y="240487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1" name="Image 3" descr="D:\Downloads\shenzhen\deck\assets\bc\sc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734" y="2539455"/>
            <a:ext cx="422453" cy="37091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2359152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CAN'T TELL IF A PAPER INVOICE IS REAL OR ALREADY FINANCED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6903720" y="3712464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60920" y="3392424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4" descr="D:\Downloads\shenzhen\deck\assets\bc\ge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734" y="3525951"/>
            <a:ext cx="422453" cy="37302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229600" y="3346704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PRODUCT FOR A BDT 8,000–60,000 SUPPLIER GAP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03720" y="4700016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7360920" y="4379976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5" descr="D:\Downloads\shenzhen\deck\assets\bc\coin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9734" y="4506955"/>
            <a:ext cx="422453" cy="38612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229600" y="4334256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MUST LEND 27% TO CMSMES BY 2029, BUT THE SHARE FELL TO 15.9% IN MARCH 2026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6903720" y="5687568"/>
            <a:ext cx="457200" cy="0"/>
          </a:xfrm>
          <a:prstGeom prst="line">
            <a:avLst/>
          </a:prstGeom>
          <a:noFill/>
          <a:ln w="15875">
            <a:solidFill>
              <a:srgbClr val="231F20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360920" y="5367528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3" name="Image 6" descr="D:\Downloads\shenzhen\deck\assets\bc\noent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0636" y="5476342"/>
            <a:ext cx="420647" cy="422453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229600" y="5321808"/>
            <a:ext cx="3642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FINANCIAL DATA NEEDS EXPLICIT CONSENT UNDER THE PDPO 2025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41148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 3 WAY DEADLOCK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7208" y="114300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67048" y="23317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267048" y="26243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MUST SELL ON CREDIT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CASH TRAPPED IN RECEIVABLES</a:t>
            </a:r>
            <a:endParaRPr lang="en-US" sz="1200" dirty="0"/>
          </a:p>
        </p:txBody>
      </p:sp>
      <p:pic>
        <p:nvPicPr>
          <p:cNvPr id="6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43" y="3200400"/>
            <a:ext cx="999714" cy="11887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PHARMACIES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NEED MEDICINE EVERY DAY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CAN'T PAY UPFRONT OR SEE CASH AHEAD</a:t>
            </a:r>
            <a:endParaRPr lang="en-US" sz="1200" dirty="0"/>
          </a:p>
        </p:txBody>
      </p:sp>
      <p:pic>
        <p:nvPicPr>
          <p:cNvPr id="9" name="Image 2" descr="D:\Downloads\shenzhen\deck\assets\bc\bank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719" y="3200400"/>
            <a:ext cx="1242753" cy="11887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848295" y="4462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7848295" y="4754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WANT TO FINANCE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BUT CAN'T VERIFY RISK</a:t>
            </a:r>
            <a:endParaRPr lang="en-US" sz="1200" dirty="0"/>
          </a:p>
        </p:txBody>
      </p:sp>
      <p:pic>
        <p:nvPicPr>
          <p:cNvPr id="12" name="Image 3" descr="D:\Downloads\shenzhen\deck\assets\bc\wa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3910" y="3566160"/>
            <a:ext cx="1183875" cy="105156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 flipH="1">
            <a:off x="2926080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888175" y="1143000"/>
            <a:ext cx="2377440" cy="914400"/>
          </a:xfrm>
          <a:prstGeom prst="curvedDown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632808" y="4800600"/>
            <a:ext cx="2926080" cy="822960"/>
          </a:xfrm>
          <a:prstGeom prst="curvedUpArrow">
            <a:avLst/>
          </a:prstGeom>
          <a:solidFill>
            <a:srgbClr val="BD0000"/>
          </a:solidFill>
          <a:ln w="12700">
            <a:solidFill>
              <a:srgbClr val="BD000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1463040" y="5806440"/>
            <a:ext cx="9265615" cy="566928"/>
          </a:xfrm>
          <a:prstGeom prst="roundRect">
            <a:avLst>
              <a:gd name="adj" fmla="val 8065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691640" y="5806440"/>
            <a:ext cx="8808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Each side waits for another to move first: the pharmacy can't prove itself, the lender can't see it, and the manufacturer carries the gap.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bc\cr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063" y="-365760"/>
            <a:ext cx="4162097" cy="3017520"/>
          </a:xfrm>
          <a:prstGeom prst="rect">
            <a:avLst/>
          </a:prstGeom>
        </p:spPr>
      </p:pic>
      <p:pic>
        <p:nvPicPr>
          <p:cNvPr id="3" name="Image 1" descr="D:\Downloads\shenzhen\deck\assets\bc\c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600000">
            <a:off x="3108960" y="4663440"/>
            <a:ext cx="3291840" cy="23774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6858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CORE ISSUE STATEMENT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1143000" y="1828800"/>
            <a:ext cx="9905695" cy="3108960"/>
          </a:xfrm>
          <a:prstGeom prst="roundRect">
            <a:avLst>
              <a:gd name="adj" fmla="val 1471"/>
            </a:avLst>
          </a:prstGeom>
          <a:solidFill>
            <a:srgbClr val="F04A4A"/>
          </a:solidFill>
          <a:ln w="12700">
            <a:solidFill>
              <a:srgbClr val="F04A4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1463040" y="1828800"/>
            <a:ext cx="92656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 pharmacy already produces the evidence of a working business: invoices, payments and expiry dates. But it is trapped on paper, so no one can act on it in time, not the owner and not a lender.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000000">
                <a:alpha val="65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the actual solution?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0" y="141732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LaMP-Copilot</a:t>
            </a:r>
            <a:endParaRPr lang="en-US" sz="6600" dirty="0"/>
          </a:p>
        </p:txBody>
      </p:sp>
      <p:sp>
        <p:nvSpPr>
          <p:cNvPr id="6" name="Shape 3"/>
          <p:cNvSpPr/>
          <p:nvPr/>
        </p:nvSpPr>
        <p:spPr>
          <a:xfrm>
            <a:off x="1325880" y="2788920"/>
            <a:ext cx="82296" cy="150876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600200" y="2743200"/>
            <a:ext cx="89912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 AI finance officer on the owner's phone: real accounts from paper, cash trouble spotted 30 days ahead, and every gap closed the cheapest way.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1325880" y="5074920"/>
            <a:ext cx="1600200" cy="347472"/>
          </a:xfrm>
          <a:prstGeom prst="roundRect">
            <a:avLst>
              <a:gd name="adj" fmla="val 26316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512064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5074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Justification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5532120"/>
            <a:ext cx="9539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“The cheapest money is the cash you already have.”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Trapped cash first, then free supplier time, and borrow only what's left.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SOLUTION: ONE ANSWER FOR EACH PAIN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914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PAIN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91440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LaMP DOES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9144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RESULT AT GREEN LIFE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152704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3" name="Image 0" descr="D:\Downloads\shenzhen\deck\assets\bc\warn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843" y="1650428"/>
            <a:ext cx="434523" cy="4116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34440" y="137160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34440" y="137160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142646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financial picture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records; real profit unknown.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06908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37160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137160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26280" y="142646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Reads invoice and sales-book photos into real accounts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confirms every figure.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321040" y="172821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95360" y="137160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778240" y="142646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13,500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monthly profit, finally visible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02920" y="262432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5" name="Image 1" descr="D:\Downloads\shenzhen\deck\assets\bc\ge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43" y="2761670"/>
            <a:ext cx="434523" cy="383684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234440" y="246888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234440" y="246888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252374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 losses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Returns go unclaimed.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06908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343400" y="246888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343400" y="246888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26280" y="252374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Tracks every batch's expiry and return window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Drafts return claims with the invoice as evidence.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8321040" y="282549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595360" y="246888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778240" y="252374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9,200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recovered: 68% of monthly profit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502920" y="372160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7" name="Image 2" descr="D:\Downloads\shenzhen\deck\assets\bc\ala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843" y="3922237"/>
            <a:ext cx="434523" cy="257111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1234440" y="356616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234440" y="356616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17320" y="362102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Cash crunch before big orders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order is due before the cash.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406908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4343400" y="356616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4343400" y="356616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526280" y="362102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Forecasts 30 days across all 23 suppliers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Trims slow movers; asks for more days.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321040" y="392277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595360" y="356616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778240" y="362102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19,000 → 8,200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shortfall, spotted 10 days early</a:t>
            </a:r>
            <a:endParaRPr lang="en-US" sz="2000" dirty="0"/>
          </a:p>
        </p:txBody>
      </p:sp>
      <p:sp>
        <p:nvSpPr>
          <p:cNvPr id="48" name="Shape 43"/>
          <p:cNvSpPr/>
          <p:nvPr/>
        </p:nvSpPr>
        <p:spPr>
          <a:xfrm>
            <a:off x="502920" y="4818888"/>
            <a:ext cx="658368" cy="658368"/>
          </a:xfrm>
          <a:prstGeom prst="roundRect">
            <a:avLst>
              <a:gd name="adj" fmla="val 25000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49" name="Image 3" descr="D:\Downloads\shenzhen\deck\assets\bc\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3" y="4949495"/>
            <a:ext cx="434523" cy="397154"/>
          </a:xfrm>
          <a:prstGeom prst="rect">
            <a:avLst/>
          </a:prstGeom>
        </p:spPr>
      </p:pic>
      <p:sp>
        <p:nvSpPr>
          <p:cNvPr id="50" name="Shape 44"/>
          <p:cNvSpPr/>
          <p:nvPr/>
        </p:nvSpPr>
        <p:spPr>
          <a:xfrm>
            <a:off x="1234440" y="4663440"/>
            <a:ext cx="2788920" cy="987552"/>
          </a:xfrm>
          <a:prstGeom prst="rect">
            <a:avLst/>
          </a:prstGeom>
          <a:solidFill>
            <a:srgbClr val="FDF0F0"/>
          </a:solidFill>
          <a:ln w="12700">
            <a:solidFill>
              <a:srgbClr val="FDF0F0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1234440" y="4663440"/>
            <a:ext cx="54864" cy="987552"/>
          </a:xfrm>
          <a:prstGeom prst="rect">
            <a:avLst/>
          </a:prstGeom>
          <a:solidFill>
            <a:srgbClr val="EA383A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417320" y="4718304"/>
            <a:ext cx="2514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fair finance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can't verify paper.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406908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343400" y="4663440"/>
            <a:ext cx="3931920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4343400" y="4663440"/>
            <a:ext cx="54864" cy="9875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4526280" y="4718304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Prices every option in taka; builds a credit passport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only with chosen lenders.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8321040" y="5020056"/>
            <a:ext cx="219456" cy="274320"/>
          </a:xfrm>
          <a:prstGeom prst="rightArrow">
            <a:avLst/>
          </a:prstGeom>
          <a:solidFill>
            <a:srgbClr val="5A5A5A"/>
          </a:solidFill>
          <a:ln w="12700">
            <a:solidFill>
              <a:srgbClr val="5A5A5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8595360" y="4663440"/>
            <a:ext cx="3093415" cy="987552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8778240" y="4718304"/>
            <a:ext cx="2727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0–182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instead of BDT 422</a:t>
            </a:r>
            <a:endParaRPr lang="en-US" sz="2000" dirty="0"/>
          </a:p>
        </p:txBody>
      </p:sp>
      <p:sp>
        <p:nvSpPr>
          <p:cNvPr id="60" name="Shape 54"/>
          <p:cNvSpPr/>
          <p:nvPr/>
        </p:nvSpPr>
        <p:spPr>
          <a:xfrm>
            <a:off x="502920" y="5870448"/>
            <a:ext cx="11185855" cy="502920"/>
          </a:xfrm>
          <a:prstGeom prst="roundRect">
            <a:avLst>
              <a:gd name="adj" fmla="val 9091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870448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Every taka comes from deterministic code. The AI never computes or moves money.</a:t>
            </a:r>
            <a:endParaRPr lang="en-US" sz="1150" dirty="0"/>
          </a:p>
        </p:txBody>
      </p:sp>
      <p:sp>
        <p:nvSpPr>
          <p:cNvPr id="62" name="Shape 5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1.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Capture (Turn Paper into Data)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Owner's Phone · Pharmacy Counter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owner photographs invoices and sales-book pages; an OpenAI vision model reads batches, expiry dates, quantities, prices and due dates.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Unsure fields are highlighted; the owner fixes them before anything is saved.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Plain-code checks verify totals and dates.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 in a photo is data: a planted “approve the maximum loan” is flagged.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Paper becomes a verified record the owner has confirmed.</a:t>
            </a:r>
            <a:endParaRPr lang="en-US" sz="1550" dirty="0"/>
          </a:p>
        </p:txBody>
      </p:sp>
      <p:pic>
        <p:nvPicPr>
          <p:cNvPr id="21" name="Image 1" descr="D:\Downloads\shenzhen\deck\assets\step-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573624"/>
            <a:ext cx="3291840" cy="3284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2.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Understand (Build Real Accounts)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Engines · Deterministic Python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confirmed records, LaMP builds the accounts a lender would ask for: profit, margin, stock days and money in expiring stock.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Green Life: sales BDT 412,500, net profit BDT 13,500 at a 12% margin.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batches worth BDT 18,400 expire within 60 days; BDT 9,200 is still returnable.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drafts the return claims with the invoice attached.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Profit, dues, stock and expiry on one screen.</a:t>
            </a:r>
            <a:endParaRPr lang="en-US" sz="1550" dirty="0"/>
          </a:p>
        </p:txBody>
      </p:sp>
      <p:pic>
        <p:nvPicPr>
          <p:cNvPr id="21" name="Image 1" descr="D:\Downloads\shenzhen\deck\assets\step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3638550"/>
            <a:ext cx="34290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3.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Anticipate (Forecast and Alert)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Cash Forecast · All 23 Suppliers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30-day forecast combines sales, patient dues, supplier dues, rent, salaries and orders, and marks the first day cash runs out.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 A's BDT 60,000 order is due Mon 26 Oct; cash that day: BDT 41,000.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Alert ten days ahead: short BDT 19,000.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Also flags expiring stock, closing return windows and overdue patient dues.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Cash trouble shows up while it's still cheap to fix.</a:t>
            </a:r>
            <a:endParaRPr lang="en-US" sz="1550" dirty="0"/>
          </a:p>
        </p:txBody>
      </p:sp>
      <p:pic>
        <p:nvPicPr>
          <p:cNvPr id="21" name="Image 1" descr="D:\Downloads\shenzhen\deck\assets\step-or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0899" y="3017520"/>
            <a:ext cx="3106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4.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Fund (Cheapest Money First)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Funding Plan · Owner Approval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boxes of a slow mover sell 0.2 a day with 60 sellable days left, so only 12 will sell before expiry.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Trim to 12 boxes: BDT 10,800 saved, gap down from BDT 19,000 to BDT 8,200.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 in taka: supplier extension free, wallet loan BDT 182 (2.2% of the gap), supplier credit BDT 492 (6.0%).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Plan: ask for 20 more days; no reply by Fri 23 Oct and LaMP proposes the loan. The owner approves with a PIN.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0–182 instead of BDT 422, and no stock left to expire.</a:t>
            </a:r>
            <a:endParaRPr lang="en-US" sz="1550" dirty="0"/>
          </a:p>
        </p:txBody>
      </p:sp>
      <p:pic>
        <p:nvPicPr>
          <p:cNvPr id="21" name="Image 1" descr="D:\Downloads\shenzhen\deck\assets\step-c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885" y="2834640"/>
            <a:ext cx="302199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0"/>
            <a:ext cx="2773375" cy="68580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dirty="0">
                <a:solidFill>
                  <a:srgbClr val="2A7651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How LaMP Works (5 Sequential Steps)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00BF63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5. </a:t>
            </a:r>
            <a:pPr indent="0" marL="0">
              <a:buNone/>
            </a:pPr>
            <a:r>
              <a:rPr lang="en-US" sz="1800" dirty="0">
                <a:solidFill>
                  <a:srgbClr val="231F2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Prove (Credit Passport and Consent)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44475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 View · Sandbox Partners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45720" cy="841248"/>
          </a:xfrm>
          <a:prstGeom prst="rect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874520"/>
            <a:ext cx="800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supplier-confirmed invoices paid on time become a credit passport: on-time estimate 0.826, default risk 3%.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971800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08376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a purpose-blind lender funds BDT 19,000; LaMP funds BDT 8,200, the stock that sells.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3593592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3593592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75.2% advance offer; a 35% repayment ceiling refuses loans the shop can't carry.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4215384"/>
            <a:ext cx="8183880" cy="5303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4215384"/>
            <a:ext cx="54864" cy="53035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per lender and scope, withdrawable (PDPO 2025); a registry stops double financing.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956048"/>
            <a:ext cx="54864" cy="347472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956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Outcome</a:t>
            </a:r>
            <a:endParaRPr lang="en-US" sz="1600" dirty="0"/>
          </a:p>
        </p:txBody>
      </p:sp>
      <p:pic>
        <p:nvPicPr>
          <p:cNvPr id="19" name="Image 0" descr="D:\Downloads\shenzhen\deck\assets\bc\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543" y="5486400"/>
            <a:ext cx="376802" cy="3840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51560" y="5376672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verifiable, consented path to fair finance.</a:t>
            </a:r>
            <a:endParaRPr lang="en-US" sz="1550" dirty="0"/>
          </a:p>
        </p:txBody>
      </p:sp>
      <p:pic>
        <p:nvPicPr>
          <p:cNvPr id="21" name="Image 1" descr="D:\Downloads\shenzhen\deck\assets\step-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3452648"/>
            <a:ext cx="3291840" cy="340535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COPILOT, LIVE ON GREEN LIFE'S DATA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556602" y="576072"/>
            <a:ext cx="359907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7" name="Image 0" descr="D:\Downloads\shenzhen\deck\assets\today-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" y="1033272"/>
            <a:ext cx="2148840" cy="46503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1089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0" name="Image 1" descr="D:\Downloads\shenzhen\deck\assets\funding-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033272"/>
            <a:ext cx="2148840" cy="465031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89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23560" y="960120"/>
            <a:ext cx="2295144" cy="4796614"/>
          </a:xfrm>
          <a:prstGeom prst="roundRect">
            <a:avLst>
              <a:gd name="adj" fmla="val 478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pic>
        <p:nvPicPr>
          <p:cNvPr id="13" name="Image 2" descr="D:\Downloads\shenzhen\deck\assets\passport-m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696712" y="1033272"/>
            <a:ext cx="2148840" cy="465031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623560" y="5829886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8183880" y="96012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the owner sees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183880" y="1371600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1371600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366760" y="1408176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Today: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banner names the next shortfall: Short BDT 19,000, Mon 26 Oct, in 10 days.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83880" y="2487168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183880" y="2487168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2523744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8,200 left after the trim, a three-step plan, every option in taka. The owner approves.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183880" y="3602736"/>
            <a:ext cx="3504895" cy="10058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83880" y="3602736"/>
            <a:ext cx="54864" cy="10058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366760" y="3639312"/>
            <a:ext cx="32305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passport: </a:t>
            </a:r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of 41 on time, a 75.2% advance offer, and a sharing switch per lender.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8183880" y="4800600"/>
            <a:ext cx="3504895" cy="1325880"/>
          </a:xfrm>
          <a:prstGeom prst="roundRect">
            <a:avLst>
              <a:gd name="adj" fmla="val 3448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366760" y="4800600"/>
            <a:ext cx="31391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F06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Built and running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Next.js · FastAPI · PostgreSQL · OpenAI Responses API · hash-chained audit log · 287 automated tests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SYSTEM</a:t>
            </a:r>
            <a:pPr indent="0" marL="0">
              <a:buNone/>
            </a:pPr>
            <a:r>
              <a:rPr lang="en-US" sz="16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 FLOW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412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READS AND PROPOSES, CODE CALCULATES — </a:t>
            </a:r>
            <a:pPr indent="0" marL="0">
              <a:buNone/>
            </a:pPr>
            <a:r>
              <a:rPr lang="en-US" sz="14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AND ONLY THE OWNER CAN APPROVE MONEY MOVING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7157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Photo Capture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23113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744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5059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5059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715768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37744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Extraction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10565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5196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32511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2511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15768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25196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Confirms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98017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2648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19963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19963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8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2715768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12648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Engines Calculate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5469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00100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07415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07415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8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7656" y="2715768"/>
            <a:ext cx="365760" cy="36576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0100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Owner Approves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9729216" y="2921508"/>
            <a:ext cx="137160" cy="146304"/>
          </a:xfrm>
          <a:prstGeom prst="rightArrow">
            <a:avLst/>
          </a:prstGeom>
          <a:solidFill>
            <a:srgbClr val="231F20"/>
          </a:solidFill>
          <a:ln w="12700">
            <a:solidFill>
              <a:srgbClr val="231F2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9875520" y="2514600"/>
            <a:ext cx="1719072" cy="960120"/>
          </a:xfrm>
          <a:prstGeom prst="roundRect">
            <a:avLst>
              <a:gd name="adj" fmla="val 7619"/>
            </a:avLst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48672" y="2587752"/>
            <a:ext cx="329184" cy="201168"/>
          </a:xfrm>
          <a:prstGeom prst="roundRect">
            <a:avLst>
              <a:gd name="adj" fmla="val 90909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48672" y="2587752"/>
            <a:ext cx="329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800" dirty="0"/>
          </a:p>
        </p:txBody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2176" y="2715768"/>
            <a:ext cx="365760" cy="36576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875520" y="31181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Sandbox Executes</a:t>
            </a:r>
            <a:endParaRPr lang="en-US" sz="1050" dirty="0"/>
          </a:p>
        </p:txBody>
      </p:sp>
      <p:sp>
        <p:nvSpPr>
          <p:cNvPr id="40" name="Text 32"/>
          <p:cNvSpPr txBox="1"/>
          <p:nvPr/>
        </p:nvSpPr>
        <p:spPr>
          <a:xfrm>
            <a:off x="502920" y="1463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8A8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OUTSIDE SERVICES</a:t>
            </a:r>
            <a:endParaRPr lang="en-US" sz="800" dirty="0"/>
          </a:p>
        </p:txBody>
      </p:sp>
      <p:sp>
        <p:nvSpPr>
          <p:cNvPr id="41" name="Shape 33"/>
          <p:cNvSpPr/>
          <p:nvPr/>
        </p:nvSpPr>
        <p:spPr>
          <a:xfrm>
            <a:off x="233172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233172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OpenAI Responses API (vision)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23697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4" name="Shape 36"/>
          <p:cNvSpPr/>
          <p:nvPr/>
        </p:nvSpPr>
        <p:spPr>
          <a:xfrm>
            <a:off x="608076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608076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Copilot chat: read-only tools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698601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47" name="Shape 39"/>
          <p:cNvSpPr/>
          <p:nvPr/>
        </p:nvSpPr>
        <p:spPr>
          <a:xfrm>
            <a:off x="9829800" y="1737360"/>
            <a:ext cx="1810512" cy="365760"/>
          </a:xfrm>
          <a:prstGeom prst="roundRect">
            <a:avLst>
              <a:gd name="adj" fmla="val 25000"/>
            </a:avLst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9829800" y="173736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 sandbox (consented)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10735056" y="2103120"/>
            <a:ext cx="0" cy="411480"/>
          </a:xfrm>
          <a:prstGeom prst="line">
            <a:avLst/>
          </a:prstGeom>
          <a:noFill/>
          <a:ln w="12700">
            <a:solidFill>
              <a:srgbClr val="8A8A8A"/>
            </a:solidFill>
            <a:prstDash val="dash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13624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1" name="Shape 43"/>
          <p:cNvSpPr/>
          <p:nvPr/>
        </p:nvSpPr>
        <p:spPr>
          <a:xfrm>
            <a:off x="323697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2" name="Shape 44"/>
          <p:cNvSpPr/>
          <p:nvPr/>
        </p:nvSpPr>
        <p:spPr>
          <a:xfrm>
            <a:off x="511149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3" name="Shape 45"/>
          <p:cNvSpPr/>
          <p:nvPr/>
        </p:nvSpPr>
        <p:spPr>
          <a:xfrm>
            <a:off x="698601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4" name="Shape 46"/>
          <p:cNvSpPr/>
          <p:nvPr/>
        </p:nvSpPr>
        <p:spPr>
          <a:xfrm>
            <a:off x="886053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5" name="Shape 47"/>
          <p:cNvSpPr/>
          <p:nvPr/>
        </p:nvSpPr>
        <p:spPr>
          <a:xfrm>
            <a:off x="10735056" y="3474720"/>
            <a:ext cx="0" cy="365760"/>
          </a:xfrm>
          <a:prstGeom prst="line">
            <a:avLst/>
          </a:prstGeom>
          <a:noFill/>
          <a:ln w="15875">
            <a:solidFill>
              <a:srgbClr val="00BF63"/>
            </a:solidFill>
            <a:prstDash val="solid"/>
            <a:tailEnd type="triangle"/>
          </a:ln>
        </p:spPr>
      </p:sp>
      <p:sp>
        <p:nvSpPr>
          <p:cNvPr id="56" name="Shape 48"/>
          <p:cNvSpPr/>
          <p:nvPr/>
        </p:nvSpPr>
        <p:spPr>
          <a:xfrm>
            <a:off x="502920" y="3840480"/>
            <a:ext cx="11185855" cy="1024128"/>
          </a:xfrm>
          <a:prstGeom prst="roundRect">
            <a:avLst>
              <a:gd name="adj" fmla="val 5357"/>
            </a:avLst>
          </a:prstGeom>
          <a:solidFill>
            <a:srgbClr val="4CB877"/>
          </a:solidFill>
          <a:ln w="12700">
            <a:solidFill>
              <a:srgbClr val="4CB87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6858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DETERMINISTIC ENGINES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plain Python, the only place money is computed</a:t>
            </a:r>
            <a:endParaRPr lang="en-US" sz="1000" dirty="0"/>
          </a:p>
        </p:txBody>
      </p:sp>
      <p:sp>
        <p:nvSpPr>
          <p:cNvPr id="58" name="Shape 50"/>
          <p:cNvSpPr/>
          <p:nvPr/>
        </p:nvSpPr>
        <p:spPr>
          <a:xfrm>
            <a:off x="68580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68580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Accounts</a:t>
            </a:r>
            <a:endParaRPr lang="en-US" sz="900" dirty="0"/>
          </a:p>
        </p:txBody>
      </p:sp>
      <p:sp>
        <p:nvSpPr>
          <p:cNvPr id="60" name="Shape 52"/>
          <p:cNvSpPr/>
          <p:nvPr/>
        </p:nvSpPr>
        <p:spPr>
          <a:xfrm>
            <a:off x="1898193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1898193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Dues</a:t>
            </a:r>
            <a:endParaRPr lang="en-US" sz="900" dirty="0"/>
          </a:p>
        </p:txBody>
      </p:sp>
      <p:sp>
        <p:nvSpPr>
          <p:cNvPr id="62" name="Shape 54"/>
          <p:cNvSpPr/>
          <p:nvPr/>
        </p:nvSpPr>
        <p:spPr>
          <a:xfrm>
            <a:off x="3110586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3110586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Forecast</a:t>
            </a:r>
            <a:endParaRPr lang="en-US" sz="900" dirty="0"/>
          </a:p>
        </p:txBody>
      </p:sp>
      <p:sp>
        <p:nvSpPr>
          <p:cNvPr id="64" name="Shape 56"/>
          <p:cNvSpPr/>
          <p:nvPr/>
        </p:nvSpPr>
        <p:spPr>
          <a:xfrm>
            <a:off x="4322978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57"/>
          <p:cNvSpPr txBox="1"/>
          <p:nvPr/>
        </p:nvSpPr>
        <p:spPr>
          <a:xfrm>
            <a:off x="4322978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Expiry</a:t>
            </a:r>
            <a:endParaRPr lang="en-US" sz="900" dirty="0"/>
          </a:p>
        </p:txBody>
      </p:sp>
      <p:sp>
        <p:nvSpPr>
          <p:cNvPr id="66" name="Shape 58"/>
          <p:cNvSpPr/>
          <p:nvPr/>
        </p:nvSpPr>
        <p:spPr>
          <a:xfrm>
            <a:off x="5535371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5535371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&amp; trim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6747764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6747764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passport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7960157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3"/>
          <p:cNvSpPr txBox="1"/>
          <p:nvPr/>
        </p:nvSpPr>
        <p:spPr>
          <a:xfrm>
            <a:off x="7960157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Funding plan</a:t>
            </a:r>
            <a:endParaRPr lang="en-US" sz="900" dirty="0"/>
          </a:p>
        </p:txBody>
      </p:sp>
      <p:sp>
        <p:nvSpPr>
          <p:cNvPr id="72" name="Shape 64"/>
          <p:cNvSpPr/>
          <p:nvPr/>
        </p:nvSpPr>
        <p:spPr>
          <a:xfrm>
            <a:off x="9172550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65"/>
          <p:cNvSpPr txBox="1"/>
          <p:nvPr/>
        </p:nvSpPr>
        <p:spPr>
          <a:xfrm>
            <a:off x="9172550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Registry</a:t>
            </a:r>
            <a:endParaRPr lang="en-US" sz="900" dirty="0"/>
          </a:p>
        </p:txBody>
      </p:sp>
      <p:sp>
        <p:nvSpPr>
          <p:cNvPr id="74" name="Shape 66"/>
          <p:cNvSpPr/>
          <p:nvPr/>
        </p:nvSpPr>
        <p:spPr>
          <a:xfrm>
            <a:off x="10384942" y="4297680"/>
            <a:ext cx="1120953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67"/>
          <p:cNvSpPr txBox="1"/>
          <p:nvPr/>
        </p:nvSpPr>
        <p:spPr>
          <a:xfrm>
            <a:off x="10384942" y="4297680"/>
            <a:ext cx="11209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50292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7" name="Text 69"/>
          <p:cNvSpPr txBox="1"/>
          <p:nvPr/>
        </p:nvSpPr>
        <p:spPr>
          <a:xfrm>
            <a:off x="50292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agent — </a:t>
            </a:r>
            <a:pPr algn="ctr" indent="0" marL="0">
              <a:buNone/>
            </a:pPr>
            <a:r>
              <a:rPr lang="en-US" sz="100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cannot approve, pay or contact anyone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297680" y="5257800"/>
            <a:ext cx="3611880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79" name="Text 71"/>
          <p:cNvSpPr txBox="1"/>
          <p:nvPr/>
        </p:nvSpPr>
        <p:spPr>
          <a:xfrm>
            <a:off x="4297680" y="5257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PostgreSQL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seed, captures, actions</a:t>
            </a:r>
            <a:endParaRPr lang="en-US" sz="1000" dirty="0"/>
          </a:p>
        </p:txBody>
      </p:sp>
      <p:sp>
        <p:nvSpPr>
          <p:cNvPr id="80" name="Shape 72"/>
          <p:cNvSpPr/>
          <p:nvPr/>
        </p:nvSpPr>
        <p:spPr>
          <a:xfrm>
            <a:off x="8092440" y="5257800"/>
            <a:ext cx="3596335" cy="457200"/>
          </a:xfrm>
          <a:prstGeom prst="roundRect">
            <a:avLst>
              <a:gd name="adj" fmla="val 16000"/>
            </a:avLst>
          </a:prstGeom>
          <a:ln w="12700">
            <a:solidFill>
              <a:srgbClr val="8A8A8A"/>
            </a:solidFill>
            <a:prstDash val="dash"/>
          </a:ln>
        </p:spPr>
      </p:sp>
      <p:sp>
        <p:nvSpPr>
          <p:cNvPr id="81" name="Text 73"/>
          <p:cNvSpPr txBox="1"/>
          <p:nvPr/>
        </p:nvSpPr>
        <p:spPr>
          <a:xfrm>
            <a:off x="8092440" y="5257800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Audit log — </a:t>
            </a:r>
            <a:pPr algn="ctr" indent="0" marL="0">
              <a:buNone/>
            </a:pPr>
            <a:r>
              <a:rPr lang="en-US" sz="10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 event, T0–T3, streamed live</a:t>
            </a:r>
            <a:endParaRPr lang="en-US" sz="1000" dirty="0"/>
          </a:p>
        </p:txBody>
      </p:sp>
      <p:sp>
        <p:nvSpPr>
          <p:cNvPr id="82" name="Shape 7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TRUST MECHANISM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686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LaMP makes AI misuse structurally impossible and blocks double financing in its registry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anyone trick the AI into moving money?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there is no tool to do it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55483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Read-only tools plus one proposal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chat can read and propose. No tool approves, pays or contacts anyone.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4" y="3578962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17320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Approval lives outside the AI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417320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owner approves, in the app; code then runs the step in a sandbox.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4603090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417320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Text in photos is data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417320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planted “approve the maximum loan” is flagged, and nothing happens.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55868" y="1325880"/>
            <a:ext cx="5432908" cy="457200"/>
          </a:xfrm>
          <a:prstGeom prst="roundRect">
            <a:avLst>
              <a:gd name="adj" fmla="val 12000"/>
            </a:avLst>
          </a:prstGeom>
          <a:solidFill>
            <a:srgbClr val="C9403A"/>
          </a:solidFill>
          <a:ln w="12700">
            <a:solidFill>
              <a:srgbClr val="C9403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38748" y="1325880"/>
            <a:ext cx="50671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Can one invoice be financed twice, or data leak to a lender?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255868" y="1874520"/>
            <a:ext cx="54329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— registry lock and consent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255868" y="2240280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38748" y="242316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0421" y="25548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70268" y="2331720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invoice, one financing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170268" y="260604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invoice's fingerprint is locked; a second application is rejected.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6255868" y="3264408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438748" y="3447288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0421" y="3578962"/>
            <a:ext cx="285293" cy="28529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170268" y="335584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Consent per lender and scope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170268" y="3630168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see only what the owner shares, withdrawable any time.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255868" y="4288536"/>
            <a:ext cx="5432908" cy="914400"/>
          </a:xfrm>
          <a:prstGeom prst="roundRect">
            <a:avLst>
              <a:gd name="adj" fmla="val 5000"/>
            </a:avLst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6438748" y="4471416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98754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421" y="4603090"/>
            <a:ext cx="285293" cy="285293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7170268" y="4379976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No patient medicine data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7170268" y="4654296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dues are amounts only; purchases are health data.</a:t>
            </a:r>
            <a:endParaRPr lang="en-US" sz="1150" dirty="0"/>
          </a:p>
        </p:txBody>
      </p:sp>
      <p:sp>
        <p:nvSpPr>
          <p:cNvPr id="41" name="Shape 33"/>
          <p:cNvSpPr/>
          <p:nvPr/>
        </p:nvSpPr>
        <p:spPr>
          <a:xfrm>
            <a:off x="502920" y="5440680"/>
            <a:ext cx="11185855" cy="685800"/>
          </a:xfrm>
          <a:prstGeom prst="roundRect">
            <a:avLst>
              <a:gd name="adj" fmla="val 6667"/>
            </a:avLst>
          </a:prstGeom>
          <a:solidFill>
            <a:srgbClr val="1F7A47"/>
          </a:solidFill>
          <a:ln w="12700">
            <a:solidFill>
              <a:srgbClr val="1F7A47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731520" y="544068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The guarantee is structural: the tools the AI would need don't exist, and every decision is logged in a hash chain anyone can verify.</a:t>
            </a:r>
            <a:endParaRPr lang="en-US" sz="1200" dirty="0"/>
          </a:p>
        </p:txBody>
      </p:sp>
      <p:sp>
        <p:nvSpPr>
          <p:cNvPr id="43" name="Shape 3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SECURITY &amp; COMPLIANCE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914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Permission Tiers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16152"/>
          <a:ext cx="54864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60020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Tier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What it may do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T0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Regulator, auditor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Read-only audit views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T1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Owner, photo reading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Capture, confirm, approve own actions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T2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Engines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Compute; no outside contact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T3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money steps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Consented reads, sandbox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9144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What's Real and What's Sandbox in This Prototype</a:t>
            </a:r>
            <a:endParaRPr lang="en-US" sz="12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16152"/>
          <a:ext cx="5425135" cy="914400"/>
        </p:xfrm>
        <a:graphic>
          <a:graphicData uri="http://schemas.openxmlformats.org/drawingml/2006/table">
            <a:tbl>
              <a:tblPr/>
              <a:tblGrid>
                <a:gridCol w="2712568"/>
                <a:gridCol w="271256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Real, working code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Sandbox, said openly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Photo reading (OpenAI vision)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Lenders, decisions, payouts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 money maths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replies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Copilot chat, read-only tools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Supplier invoice confirmation (seeded)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Approvals with PIN, Pause, consent, duplicate guard, hash-chained log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Federated learning (roadmap)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287 / 287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tests pass, no AI calls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45104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45104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26 / 26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482264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red-team attacks held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87288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87288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6324448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029471" y="3429000"/>
            <a:ext cx="2659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029471" y="3520440"/>
            <a:ext cx="265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Every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9166631" y="4041648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hash-chained and verifiable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4892040"/>
            <a:ext cx="5486400" cy="91440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4892040"/>
            <a:ext cx="54864" cy="91440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92861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 evidence: every event, with its tier and chain hash, is exported to logs/sandbox_execution_trace.log.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263640" y="4892040"/>
            <a:ext cx="5425135" cy="914400"/>
          </a:xfrm>
          <a:prstGeom prst="roundRect">
            <a:avLst>
              <a:gd name="adj" fmla="val 5000"/>
            </a:avLst>
          </a:prstGeom>
          <a:solidFill>
            <a:srgbClr val="FDF0F0"/>
          </a:solidFill>
          <a:ln w="12700">
            <a:solidFill>
              <a:srgbClr val="EA383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4892040"/>
            <a:ext cx="5059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D00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Lenders, payouts and supplier replies are sandbox partners. No real money moves.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INNOVATION: WHAT MAKES LaMP NEW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353251" y="576072"/>
            <a:ext cx="4802429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457200"/>
          </a:xfrm>
          <a:prstGeom prst="roundRect">
            <a:avLst>
              <a:gd name="adj" fmla="val 12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things no pharmacy tool in Bangladesh does today, each working in the prototype.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11" name="Image 0" descr="D:\Downloads\shenzhen\deck\assets\bc\ala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766" y="1959848"/>
            <a:ext cx="422453" cy="24996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54480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WORKING CAPITAL · EXPIRY-AWARE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Orders and credit sized on what will actually sell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29888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75608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BDT 10,800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stock avoided on one order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Shelf-life credit: lend and order only what sells before expiry, so BDT 19,000 of need becomes BDT 8,200.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33008" y="15361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3008" y="15361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89040" y="17647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0" name="Image 1" descr="D:\Downloads\shenzhen\deck\assets\bc\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38" y="1873606"/>
            <a:ext cx="355283" cy="422453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84568" y="17556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NEUTRAL · MULTI-SUPPLIER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7284568" y="19751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Works across every supplier, not one distributor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859975" y="17373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05695" y="17373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10–50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suppliers per pharmacy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489040" y="26791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Dues, returns and financing across all suppliers, not one distributor's orders.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02920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2920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58952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29" name="Image 2" descr="D:\Downloads\shenzhen\deck\assets\bc\cred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6" y="3931006"/>
            <a:ext cx="422453" cy="422453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554480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CREDIT · CONSENTED PASSPORT</a:t>
            </a:r>
            <a:endParaRPr lang="en-US" sz="850" dirty="0"/>
          </a:p>
        </p:txBody>
      </p:sp>
      <p:sp>
        <p:nvSpPr>
          <p:cNvPr id="31" name="Text 26"/>
          <p:cNvSpPr txBox="1"/>
          <p:nvPr/>
        </p:nvSpPr>
        <p:spPr>
          <a:xfrm>
            <a:off x="1554480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payments become lender evidence</a:t>
            </a:r>
            <a:endParaRPr lang="en-US" sz="1250" dirty="0"/>
          </a:p>
        </p:txBody>
      </p:sp>
      <p:sp>
        <p:nvSpPr>
          <p:cNvPr id="32" name="Shape 27"/>
          <p:cNvSpPr/>
          <p:nvPr/>
        </p:nvSpPr>
        <p:spPr>
          <a:xfrm>
            <a:off x="4129888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175608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75.2%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on 38 of 41 on time</a:t>
            </a:r>
            <a:endParaRPr lang="en-US" sz="2000" dirty="0"/>
          </a:p>
        </p:txBody>
      </p:sp>
      <p:sp>
        <p:nvSpPr>
          <p:cNvPr id="34" name="Text 29"/>
          <p:cNvSpPr txBox="1"/>
          <p:nvPr/>
        </p:nvSpPr>
        <p:spPr>
          <a:xfrm>
            <a:off x="758952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supplier-confirmed record replaces missing collateral, shared per lender with consent.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233008" y="3593592"/>
            <a:ext cx="5455768" cy="187452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33008" y="3593592"/>
            <a:ext cx="54864" cy="187452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89040" y="3822192"/>
            <a:ext cx="640080" cy="640080"/>
          </a:xfrm>
          <a:prstGeom prst="roundRect">
            <a:avLst>
              <a:gd name="adj" fmla="val 25714"/>
            </a:avLst>
          </a:prstGeom>
          <a:solidFill>
            <a:srgbClr val="5FE35F"/>
          </a:solidFill>
          <a:ln w="12700">
            <a:solidFill>
              <a:srgbClr val="5FE35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6200" y="3959352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284568" y="3813048"/>
            <a:ext cx="2392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19875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AGENTIC · SAFE BY DESIGN</a:t>
            </a:r>
            <a:endParaRPr lang="en-US" sz="850" dirty="0"/>
          </a:p>
        </p:txBody>
      </p:sp>
      <p:sp>
        <p:nvSpPr>
          <p:cNvPr id="40" name="Text 34"/>
          <p:cNvSpPr txBox="1"/>
          <p:nvPr/>
        </p:nvSpPr>
        <p:spPr>
          <a:xfrm>
            <a:off x="7284568" y="4032504"/>
            <a:ext cx="2392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An agent that acts, without touching money</a:t>
            </a:r>
            <a:endParaRPr lang="en-US" sz="1250" dirty="0"/>
          </a:p>
        </p:txBody>
      </p:sp>
      <p:sp>
        <p:nvSpPr>
          <p:cNvPr id="41" name="Shape 35"/>
          <p:cNvSpPr/>
          <p:nvPr/>
        </p:nvSpPr>
        <p:spPr>
          <a:xfrm>
            <a:off x="9859975" y="3794760"/>
            <a:ext cx="1645920" cy="868680"/>
          </a:xfrm>
          <a:prstGeom prst="roundRect">
            <a:avLst>
              <a:gd name="adj" fmla="val 6316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905695" y="379476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D40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</a:t>
            </a:r>
            <a:endParaRPr lang="en-US" sz="2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money figures computed by the AI</a:t>
            </a:r>
            <a:endParaRPr lang="en-US" sz="2000" dirty="0"/>
          </a:p>
        </p:txBody>
      </p:sp>
      <p:sp>
        <p:nvSpPr>
          <p:cNvPr id="43" name="Text 37"/>
          <p:cNvSpPr txBox="1"/>
          <p:nvPr/>
        </p:nvSpPr>
        <p:spPr>
          <a:xfrm>
            <a:off x="6489040" y="4736592"/>
            <a:ext cx="4998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reads, forecasts and prepares actions; code computes every taka, and the owner approves.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02920" y="5623560"/>
            <a:ext cx="11185855" cy="640080"/>
          </a:xfrm>
          <a:prstGeom prst="roundRect">
            <a:avLst>
              <a:gd name="adj" fmla="val 7143"/>
            </a:avLst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31520" y="562356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 one else combines all four: pharmacy-specific, neutral across suppliers, consented, and safe by design.</a:t>
            </a:r>
            <a:endParaRPr lang="en-US" sz="1250" dirty="0"/>
          </a:p>
        </p:txBody>
      </p:sp>
      <p:sp>
        <p:nvSpPr>
          <p:cNvPr id="46" name="Shape 4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COMPETITIVE LANDSCAPE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634179" y="576072"/>
            <a:ext cx="6521501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502920"/>
          </a:xfrm>
          <a:prstGeom prst="roundRect">
            <a:avLst>
              <a:gd name="adj" fmla="val 10909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Others prove the demand; </a:t>
            </a:r>
            <a:pPr indent="0" marL="0">
              <a:buNone/>
            </a:pPr>
            <a:r>
              <a:rPr lang="en-US" sz="11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 is neutral, pharmacy-aware, agentic and capital-light at once.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58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20440"/>
                <a:gridCol w="1417320"/>
                <a:gridCol w="1417320"/>
                <a:gridCol w="1371600"/>
                <a:gridCol w="14447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Player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Model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Neutral across suppliers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Knows batches and expiry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Acts, not just records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 stock or capital on its books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PulseTech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Distributor finance; 12,000+ Dhaka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orders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TallyKhata (Bangladesh)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Bookkeeping for any merchant; 4.4M users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any shop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Shelf Life (Nigeria, Kenya)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Pay-as-you-sell pharmacy stock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holds stock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Retailio (India)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Marketplace credit; 100,000+ pharmacies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D000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No: own marketplace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B7791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Partly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LaMP-Copilot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AI finance officer across all suppliers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F5132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Yes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7E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PulseTech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Neutral across all 10–50 suppliers.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2498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2498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378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TallyKhata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Pharmacy-specific and agentic.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82077" y="5120640"/>
            <a:ext cx="3606698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82077" y="51206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64957" y="5157216"/>
            <a:ext cx="333237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vs Shelf Life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stock or capital on our books.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03504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Sources: Financial Express, Startup Bangladesh, The Daily Star, Accion, TechCabal, BioSpectrum, FinBox.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58922" y="576072"/>
            <a:ext cx="789675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01400" y="48463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B5B5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LaMP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11185855" cy="685800"/>
          </a:xfrm>
          <a:prstGeom prst="roundRect">
            <a:avLst>
              <a:gd name="adj" fmla="val 8000"/>
            </a:avLst>
          </a:prstGeom>
          <a:ln w="12700">
            <a:solidFill>
              <a:srgbClr val="00BF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8686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Primary: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 origination fee from partner lenders.  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Second: </a:t>
            </a:r>
            <a:pPr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manufacturer and distributor programmes.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Who Pays LaMP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65860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286000"/>
            <a:ext cx="274320" cy="2743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94360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12648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Pays nothing; free is our adoption lever.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2395728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8668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08" y="22860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487168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Partner lender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2505456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verified, consented borrowers.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288536" y="2057400"/>
            <a:ext cx="1783080" cy="187452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51476" y="21945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2286000"/>
            <a:ext cx="274320" cy="2743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379976" y="2724912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Manufacturer or distributor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98264" y="318211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Gets faster collections and evidence-backed returns.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6355080" y="1737360"/>
            <a:ext cx="5333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Revenue Streams (proposed, to be validated in the pilot)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057400"/>
          <a:ext cx="533369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3258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Stream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Payer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Charged 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Proposed rate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875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Origination fee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Partner lender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Amount advanced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1.0%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Programme subscription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Manufacturer or distributor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 company, per month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BDT 2.5–3.5 lakh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Pharmacy app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Pharmacy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31F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—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9875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Free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0"/>
          <p:cNvSpPr txBox="1"/>
          <p:nvPr/>
        </p:nvSpPr>
        <p:spPr>
          <a:xfrm>
            <a:off x="502920" y="4160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Pricing Logic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448056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2920" y="448056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85800" y="451713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already pay to acquire borrowers; a verified applicant is cheaper to approve.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502920" y="5349240"/>
            <a:ext cx="5577840" cy="7772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2920" y="5349240"/>
            <a:ext cx="54864" cy="777240"/>
          </a:xfrm>
          <a:prstGeom prst="rect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5385816"/>
            <a:ext cx="53035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Recovered expiry and on-time collections are worth more than the subscription.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355080" y="4160520"/>
            <a:ext cx="5333695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355080" y="4160520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this model is capital-light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617720"/>
            <a:ext cx="48764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LaMP never lends or holds funds. Lenders supply capital and carry risk; we supply verification. No stock, no loan book.</a:t>
            </a:r>
            <a:endParaRPr lang="en-US" sz="1350" dirty="0"/>
          </a:p>
        </p:txBody>
      </p:sp>
      <p:sp>
        <p:nvSpPr>
          <p:cNvPr id="37" name="Shape 3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D300"/>
          </a:solidFill>
          <a:ln w="12700">
            <a:solidFill>
              <a:srgbClr val="00D30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502920" y="475488"/>
            <a:ext cx="182880" cy="164592"/>
          </a:xfrm>
          <a:prstGeom prst="triangle">
            <a:avLst/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95528" y="38404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FEASIBILITY</a:t>
            </a:r>
            <a:endParaRPr lang="en-US" sz="2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02412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9903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EVENTS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024128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7939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5B6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MITIGATION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024128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159752" y="10058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9875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CONTINGENCY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1024128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040112" y="100584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RISK LEVEL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502920" y="146304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9BD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105156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6128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 skip invoices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93192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04164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Capture takes a minute and pays off at once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812280" y="1463040"/>
            <a:ext cx="2743200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922008" y="146304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 upload e-invoices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9692640" y="1463040"/>
            <a:ext cx="1993392" cy="1051560"/>
          </a:xfrm>
          <a:prstGeom prst="rect">
            <a:avLst/>
          </a:prstGeom>
          <a:solidFill>
            <a:srgbClr val="EEF5FC"/>
          </a:solidFill>
          <a:ln w="15875">
            <a:solidFill>
              <a:srgbClr val="5B9BD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802368" y="146304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02920" y="265176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BF63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105156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116128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misreads a figure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393192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04164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confirms every field; code checks totals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6812280" y="2651760"/>
            <a:ext cx="2743200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2008" y="265176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Manual entry fallback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9692640" y="2651760"/>
            <a:ext cx="1993392" cy="1051560"/>
          </a:xfrm>
          <a:prstGeom prst="rect">
            <a:avLst/>
          </a:prstGeom>
          <a:solidFill>
            <a:srgbClr val="E9F7EE"/>
          </a:solidFill>
          <a:ln w="15875">
            <a:solidFill>
              <a:srgbClr val="00BF6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9802368" y="265176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02920" y="384048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105156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16128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Lenders distrust the record</a:t>
            </a:r>
            <a:endParaRPr lang="en-US" sz="1300" dirty="0"/>
          </a:p>
        </p:txBody>
      </p:sp>
      <p:sp>
        <p:nvSpPr>
          <p:cNvPr id="36" name="Shape 30"/>
          <p:cNvSpPr/>
          <p:nvPr/>
        </p:nvSpPr>
        <p:spPr>
          <a:xfrm>
            <a:off x="393192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04164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Supplier-confirmed invoices, cautious score</a:t>
            </a:r>
            <a:endParaRPr lang="en-US" sz="1300" dirty="0"/>
          </a:p>
        </p:txBody>
      </p:sp>
      <p:sp>
        <p:nvSpPr>
          <p:cNvPr id="38" name="Shape 32"/>
          <p:cNvSpPr/>
          <p:nvPr/>
        </p:nvSpPr>
        <p:spPr>
          <a:xfrm>
            <a:off x="6812280" y="384048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22008" y="384048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Shadow mode with one lender first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9692640" y="384048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802368" y="384048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02920" y="502920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A383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</a:t>
            </a:r>
            <a:endParaRPr lang="en-US" sz="1500" dirty="0"/>
          </a:p>
        </p:txBody>
      </p:sp>
      <p:sp>
        <p:nvSpPr>
          <p:cNvPr id="44" name="Shape 38"/>
          <p:cNvSpPr/>
          <p:nvPr/>
        </p:nvSpPr>
        <p:spPr>
          <a:xfrm>
            <a:off x="105156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116128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 breach or AI misuse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393192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04164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Consent per lender, no patient data, no money tools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812280" y="5029200"/>
            <a:ext cx="2743200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6922008" y="5029200"/>
            <a:ext cx="2523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Legal review; all 26 attacks in our red-team run held</a:t>
            </a:r>
            <a:endParaRPr lang="en-US" sz="1300" dirty="0"/>
          </a:p>
        </p:txBody>
      </p:sp>
      <p:sp>
        <p:nvSpPr>
          <p:cNvPr id="50" name="Shape 44"/>
          <p:cNvSpPr/>
          <p:nvPr/>
        </p:nvSpPr>
        <p:spPr>
          <a:xfrm>
            <a:off x="9692640" y="5029200"/>
            <a:ext cx="1993392" cy="1051560"/>
          </a:xfrm>
          <a:prstGeom prst="rect">
            <a:avLst/>
          </a:prstGeom>
          <a:solidFill>
            <a:srgbClr val="FDF0F0"/>
          </a:solidFill>
          <a:ln w="15875">
            <a:solidFill>
              <a:srgbClr val="EA383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802368" y="5029200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Action Plan &amp; Roadmap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one pharmacy in Bogura to nationwide impact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03720" y="411480"/>
            <a:ext cx="0" cy="73152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365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it with real invoices and repayments, grow across suppliers, then become the neutral finance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Pilot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(0–6 months)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Prove the model with 20 pharmacies in Bogura.</a:t>
            </a:r>
            <a:endParaRPr lang="en-US" sz="9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121408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2296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Pharmacies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281" y="2121408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801673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Copilot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2670353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994" y="2121408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80386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Lender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12648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pharmacies, one distributor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lender, shadow mode first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 accuracy and forecast error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31520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80%+ of invoices captured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loans repaid on time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115714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07738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444898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4489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4929530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Network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(6–18 months)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4929530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 across suppliers and districts.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0386" y="212140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4627778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Distributors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5496458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9099" y="2121408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606491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More shops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6475171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7812" y="2121408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585204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4417466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4536338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4536338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Distributor programmes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Bangla interface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Passports with 3+ lenders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4417466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536338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44" name="Text 36"/>
          <p:cNvSpPr txBox="1"/>
          <p:nvPr/>
        </p:nvSpPr>
        <p:spPr>
          <a:xfrm>
            <a:off x="4536338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3+ distributors</a:t>
            </a:r>
            <a:endParaRPr lang="en-US" sz="1150" dirty="0"/>
          </a:p>
        </p:txBody>
      </p:sp>
      <p:sp>
        <p:nvSpPr>
          <p:cNvPr id="45" name="Shape 37"/>
          <p:cNvSpPr/>
          <p:nvPr/>
        </p:nvSpPr>
        <p:spPr>
          <a:xfrm>
            <a:off x="7920533" y="3337560"/>
            <a:ext cx="155448" cy="182880"/>
          </a:xfrm>
          <a:prstGeom prst="rightArrow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112557" y="1371600"/>
            <a:ext cx="3576218" cy="4114800"/>
          </a:xfrm>
          <a:prstGeom prst="roundRect">
            <a:avLst>
              <a:gd name="adj" fmla="val 1023"/>
            </a:avLst>
          </a:prstGeom>
          <a:solidFill>
            <a:srgbClr val="FFFFFF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249717" y="1508760"/>
            <a:ext cx="384048" cy="384048"/>
          </a:xfrm>
          <a:prstGeom prst="ellipse">
            <a:avLst/>
          </a:prstGeom>
          <a:solidFill>
            <a:srgbClr val="198754"/>
          </a:solidFill>
          <a:ln w="12700">
            <a:solidFill>
              <a:srgbClr val="198754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24971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734349" y="1481328"/>
            <a:ext cx="2844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(18–36 months)</a:t>
            </a:r>
            <a:endParaRPr lang="en-US" sz="1400" dirty="0"/>
          </a:p>
        </p:txBody>
      </p:sp>
      <p:sp>
        <p:nvSpPr>
          <p:cNvPr id="50" name="Text 42"/>
          <p:cNvSpPr txBox="1"/>
          <p:nvPr/>
        </p:nvSpPr>
        <p:spPr>
          <a:xfrm>
            <a:off x="8734349" y="1755648"/>
            <a:ext cx="28446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Become the neutral finance layer for pharmacies.</a:t>
            </a:r>
            <a:endParaRPr lang="en-US" sz="950" dirty="0"/>
          </a:p>
        </p:txBody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5205" y="2121408"/>
            <a:ext cx="384048" cy="384048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8432597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Banks</a:t>
            </a:r>
            <a:endParaRPr lang="en-US" sz="800" dirty="0"/>
          </a:p>
        </p:txBody>
      </p:sp>
      <p:sp>
        <p:nvSpPr>
          <p:cNvPr id="53" name="Text 44"/>
          <p:cNvSpPr txBox="1"/>
          <p:nvPr/>
        </p:nvSpPr>
        <p:spPr>
          <a:xfrm>
            <a:off x="9301277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03918" y="2121408"/>
            <a:ext cx="384048" cy="384048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9411310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Shared risk</a:t>
            </a:r>
            <a:endParaRPr lang="en-US" sz="800" dirty="0"/>
          </a:p>
        </p:txBody>
      </p:sp>
      <p:sp>
        <p:nvSpPr>
          <p:cNvPr id="56" name="Text 46"/>
          <p:cNvSpPr txBox="1"/>
          <p:nvPr/>
        </p:nvSpPr>
        <p:spPr>
          <a:xfrm>
            <a:off x="10279990" y="21579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987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400" dirty="0"/>
          </a:p>
        </p:txBody>
      </p:sp>
      <p:pic>
        <p:nvPicPr>
          <p:cNvPr id="5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2630" y="2121408"/>
            <a:ext cx="384048" cy="384048"/>
          </a:xfrm>
          <a:prstGeom prst="rect">
            <a:avLst/>
          </a:prstGeom>
        </p:spPr>
      </p:pic>
      <p:sp>
        <p:nvSpPr>
          <p:cNvPr id="58" name="Text 47"/>
          <p:cNvSpPr txBox="1"/>
          <p:nvPr/>
        </p:nvSpPr>
        <p:spPr>
          <a:xfrm>
            <a:off x="10390022" y="2532888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</a:t>
            </a:r>
            <a:endParaRPr lang="en-US" sz="800" dirty="0"/>
          </a:p>
        </p:txBody>
      </p:sp>
      <p:sp>
        <p:nvSpPr>
          <p:cNvPr id="59" name="Shape 48"/>
          <p:cNvSpPr/>
          <p:nvPr/>
        </p:nvSpPr>
        <p:spPr>
          <a:xfrm>
            <a:off x="8222285" y="2834640"/>
            <a:ext cx="3356762" cy="1463040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8341157" y="2889504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Key Actions</a:t>
            </a:r>
            <a:endParaRPr lang="en-US" sz="1000" dirty="0"/>
          </a:p>
        </p:txBody>
      </p:sp>
      <p:sp>
        <p:nvSpPr>
          <p:cNvPr id="61" name="Text 50"/>
          <p:cNvSpPr txBox="1"/>
          <p:nvPr/>
        </p:nvSpPr>
        <p:spPr>
          <a:xfrm>
            <a:off x="8341157" y="3154680"/>
            <a:ext cx="31647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Bank supplier-credit product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Federated risk model across lenders</a:t>
            </a:r>
            <a:endParaRPr lang="en-US" sz="115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Nationwide rollout</a:t>
            </a:r>
            <a:endParaRPr lang="en-US" sz="1150" dirty="0"/>
          </a:p>
        </p:txBody>
      </p:sp>
      <p:sp>
        <p:nvSpPr>
          <p:cNvPr id="62" name="Shape 51"/>
          <p:cNvSpPr/>
          <p:nvPr/>
        </p:nvSpPr>
        <p:spPr>
          <a:xfrm>
            <a:off x="8222285" y="4389120"/>
            <a:ext cx="3356762" cy="987552"/>
          </a:xfrm>
          <a:prstGeom prst="rect">
            <a:avLst/>
          </a:prstGeom>
          <a:solidFill>
            <a:srgbClr val="E9F7EE"/>
          </a:solidFill>
          <a:ln w="12700">
            <a:solidFill>
              <a:srgbClr val="E9F7EE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8341157" y="4434840"/>
            <a:ext cx="31190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31F20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Success Metrics (targets)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8341157" y="4681728"/>
            <a:ext cx="316473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5,000+ pharmacies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31F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BDT 100M+ financed</a:t>
            </a:r>
            <a:endParaRPr lang="en-US" sz="1150" dirty="0"/>
          </a:p>
        </p:txBody>
      </p:sp>
      <p:sp>
        <p:nvSpPr>
          <p:cNvPr id="65" name="Shape 54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4211"/>
            </a:avLst>
          </a:prstGeom>
          <a:solidFill>
            <a:srgbClr val="F4FBF6"/>
          </a:solidFill>
          <a:ln w="12700">
            <a:solidFill>
              <a:srgbClr val="BFE6CC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685800" y="5669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Long-Term Impact</a:t>
            </a:r>
            <a:endParaRPr lang="en-US" sz="1300" dirty="0"/>
          </a:p>
        </p:txBody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833872"/>
            <a:ext cx="384048" cy="384048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3657600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Bankable pharmacies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 records replace missing collateral</a:t>
            </a:r>
            <a:endParaRPr lang="en-US" sz="1000" dirty="0"/>
          </a:p>
        </p:txBody>
      </p:sp>
      <p:pic>
        <p:nvPicPr>
          <p:cNvPr id="6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1064" y="5833872"/>
            <a:ext cx="384048" cy="384048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5768264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Less expired medicine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Orders sized on what will sell</a:t>
            </a:r>
            <a:endParaRPr lang="en-US" sz="1000" dirty="0"/>
          </a:p>
        </p:txBody>
      </p:sp>
      <p:pic>
        <p:nvPicPr>
          <p:cNvPr id="7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1728" y="5833872"/>
            <a:ext cx="384048" cy="384048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7878928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Cheaper finance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cash first, cheapest credit last</a:t>
            </a:r>
            <a:endParaRPr lang="en-US" sz="1000" dirty="0"/>
          </a:p>
        </p:txBody>
      </p:sp>
      <p:pic>
        <p:nvPicPr>
          <p:cNvPr id="7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391" y="5833872"/>
            <a:ext cx="384048" cy="384048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989591" y="5669280"/>
            <a:ext cx="1607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513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Healthier Bangladesh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A5A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Fewer stock-outs, more medicine on shelves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9A9A9A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Downloads\shenzhen\deck\assets\pharmac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 w="12700">
            <a:solidFill>
              <a:srgbClr val="000000">
                <a:alpha val="62000"/>
              </a:srgbClr>
            </a:solidFill>
            <a:prstDash val="solid"/>
          </a:ln>
        </p:spPr>
      </p:sp>
      <p:pic>
        <p:nvPicPr>
          <p:cNvPr id="4" name="Image 1" descr="D:\Downloads\shenzhen\deck\assets\bc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106" y="502920"/>
            <a:ext cx="1063483" cy="1097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31520" y="17830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Every pharmacy already has a </a:t>
            </a:r>
            <a:pPr algn="ctr" indent="0" marL="0">
              <a:buNone/>
            </a:pPr>
            <a:r>
              <a:rPr lang="en-US" sz="3600" dirty="0">
                <a:solidFill>
                  <a:srgbClr val="00BF63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credit history</a:t>
            </a:r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.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25146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LaMP-Copilot puts it to work.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1889608" y="3520440"/>
            <a:ext cx="8412480" cy="868680"/>
          </a:xfrm>
          <a:prstGeom prst="roundRect">
            <a:avLst>
              <a:gd name="adj" fmla="val 12632"/>
            </a:avLst>
          </a:prstGeom>
          <a:solidFill>
            <a:srgbClr val="00BF63"/>
          </a:solidFill>
          <a:ln w="12700">
            <a:solidFill>
              <a:srgbClr val="00BF6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72488" y="352044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ask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Introductions to one partner lender and one distributor for a six-month pilot with 20 pharmacies in Bogura.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0" y="48006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LaMP  ·  Ishmam Tahmid  ·  Farhan Tahsin Khan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MP BCOLBD">
  <a:themeElements>
    <a:clrScheme name="LaMP BCOLBD">
      <a:dk1>
        <a:srgbClr val="231F20"/>
      </a:dk1>
      <a:lt1>
        <a:srgbClr val="FFFFFF"/>
      </a:lt1>
      <a:dk2>
        <a:srgbClr val="0F5132"/>
      </a:dk2>
      <a:lt2>
        <a:srgbClr val="E9F7EE"/>
      </a:lt2>
      <a:accent1>
        <a:srgbClr val="00BF63"/>
      </a:accent1>
      <a:accent2>
        <a:srgbClr val="198754"/>
      </a:accent2>
      <a:accent3>
        <a:srgbClr val="BD0000"/>
      </a:accent3>
      <a:accent4>
        <a:srgbClr val="6EF06E"/>
      </a:accent4>
      <a:accent5>
        <a:srgbClr val="2A7651"/>
      </a:accent5>
      <a:accent6>
        <a:srgbClr val="5A5A5A"/>
      </a:accent6>
      <a:hlink>
        <a:srgbClr val="198754"/>
      </a:hlink>
      <a:folHlink>
        <a:srgbClr val="0F5132"/>
      </a:folHlink>
    </a:clrScheme>
    <a:fontScheme name="LaMP BCOLBD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LaMP-Copilot</dc:title>
  <dc:subject>FinTechathon 2026, International Track, Topic E: SME Finance Copilot</dc:subject>
  <dc:creator>Team LaMP</dc:creator>
  <cp:lastModifiedBy>Team LaMP</cp:lastModifiedBy>
  <cp:revision>1</cp:revision>
  <dcterms:created xsi:type="dcterms:W3CDTF">2026-10-19T17:53:09Z</dcterms:created>
  <dcterms:modified xsi:type="dcterms:W3CDTF">2026-10-19T17:53:09Z</dcterms:modified>
</cp:coreProperties>
</file>