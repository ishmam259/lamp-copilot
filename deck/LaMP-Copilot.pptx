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ec6da363-2763-d35c-d99a-f615492267ad}">
          <p14:sldIdLst>
            <p14:sldId id="256"/>
            <p14:sldId id="257"/>
          </p14:sldIdLst>
        </p14:section>
        <p14:section name="Problem" id="{a0f13178-41aa-771d-c17f-413507c70547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Solution" id="{db77e95b-e1b6-5e4f-0b09-164e811be3b6}">
          <p14:sldIdLst>
            <p14:sldId id="264"/>
            <p14:sldId id="265"/>
          </p14:sldIdLst>
        </p14:section>
        <p14:section name="How it works" id="{e45a63d9-aceb-31e2-2818-879721138791}">
          <p14:sldIdLst>
            <p14:sldId id="266"/>
            <p14:sldId id="267"/>
            <p14:sldId id="268"/>
            <p14:sldId id="269"/>
            <p14:sldId id="270"/>
          </p14:sldIdLst>
        </p14:section>
        <p14:section name="Product" id="{86208711-9755-2a2a-a740-80e9e728b546}">
          <p14:sldIdLst>
            <p14:sldId id="271"/>
            <p14:sldId id="272"/>
          </p14:sldIdLst>
        </p14:section>
        <p14:section name="Trust" id="{c423bd97-aec9-748c-f826-8339e57b7cca}">
          <p14:sldIdLst>
            <p14:sldId id="273"/>
            <p14:sldId id="274"/>
          </p14:sldIdLst>
        </p14:section>
        <p14:section name="Market" id="{e22ea64d-1300-944c-fd55-f1febea062ed}">
          <p14:sldIdLst>
            <p14:sldId id="275"/>
            <p14:sldId id="276"/>
            <p14:sldId id="277"/>
            <p14:sldId id="278"/>
          </p14:sldIdLst>
        </p14:section>
        <p14:section name="Close" id="{d80580e6-67a5-85b4-dc06-7c79c8aa4fa8}">
          <p14:sldIdLst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D">
    <p:bg>
      <p:bgPr>
        <a:solidFill>
          <a:srgbClr val="BD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image" Target="../media/image-24-8.png"/><Relationship Id="rId9" Type="http://schemas.openxmlformats.org/officeDocument/2006/relationships/image" Target="../media/image-24-9.png"/><Relationship Id="rId10" Type="http://schemas.openxmlformats.org/officeDocument/2006/relationships/image" Target="../media/image-24-10.png"/><Relationship Id="rId11" Type="http://schemas.openxmlformats.org/officeDocument/2006/relationships/image" Target="../media/image-24-11.png"/><Relationship Id="rId12" Type="http://schemas.openxmlformats.org/officeDocument/2006/relationships/image" Target="../media/image-24-12.png"/><Relationship Id="rId13" Type="http://schemas.openxmlformats.org/officeDocument/2006/relationships/image" Target="../media/image-24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pharmac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58000"/>
            </a:srgbClr>
          </a:solidFill>
          <a:ln w="12700">
            <a:solidFill>
              <a:srgbClr val="000000">
                <a:alpha val="58000"/>
              </a:srgbClr>
            </a:solidFill>
            <a:prstDash val="solid"/>
          </a:ln>
        </p:spPr>
      </p:sp>
      <p:pic>
        <p:nvPicPr>
          <p:cNvPr id="4" name="Image 1" descr="D:\Downloads\shenzhen\deck\assets\bc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1171" y="502920"/>
            <a:ext cx="1329354" cy="13716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1965960"/>
            <a:ext cx="112772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BF63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LaMP</a:t>
            </a:r>
            <a:pPr algn="ctr"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-Copilot</a:t>
            </a:r>
            <a:endParaRPr lang="en-US" sz="6000" dirty="0"/>
          </a:p>
        </p:txBody>
      </p:sp>
      <p:sp>
        <p:nvSpPr>
          <p:cNvPr id="6" name="Text 2"/>
          <p:cNvSpPr txBox="1"/>
          <p:nvPr/>
        </p:nvSpPr>
        <p:spPr>
          <a:xfrm>
            <a:off x="731520" y="3017520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An AI finance officer for neighbourhood pharmacies in Bangladesh</a:t>
            </a:r>
            <a:endParaRPr lang="en-US" sz="2400" dirty="0"/>
          </a:p>
        </p:txBody>
      </p:sp>
      <p:sp>
        <p:nvSpPr>
          <p:cNvPr id="7" name="Text 3"/>
          <p:cNvSpPr txBox="1"/>
          <p:nvPr/>
        </p:nvSpPr>
        <p:spPr>
          <a:xfrm>
            <a:off x="1828800" y="3611880"/>
            <a:ext cx="8534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DEDED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Real accounts from paper records, early warning of cash trouble, and the cheapest way to fund every order.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2072488" y="4800600"/>
            <a:ext cx="8046720" cy="457200"/>
          </a:xfrm>
          <a:prstGeom prst="roundRect">
            <a:avLst>
              <a:gd name="adj" fmla="val 100000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2072488" y="4800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FINTECHATHON 2026  ·  INTERNATIONAL TRACK  ·  TOPIC E: SME FINANCE COPILOT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731520" y="5623560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LaMP  ·  Ishmam Tahmid (team lead)  ·  Farhan Tahsin Khan  ·  Pritom Roy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count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62000"/>
            </a:srgbClr>
          </a:solidFill>
          <a:ln w="12700">
            <a:solidFill>
              <a:srgbClr val="000000">
                <a:alpha val="62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280160" y="1554480"/>
            <a:ext cx="963137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Last month, Green Life Pharmacy in Bogura sold 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4B4B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BDT 412,500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 of medicine and kept only 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4B4B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BDT 13,500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. The owner couldn't see it: every number lived in a 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4B4B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stack of paper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.</a:t>
            </a:r>
            <a:endParaRPr lang="en-US" sz="3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SITUATION ANALYSIS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6012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The Manufacturing Triumph: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1353312"/>
            <a:ext cx="5257800" cy="310896"/>
          </a:xfrm>
          <a:prstGeom prst="rect">
            <a:avLst/>
          </a:prstGeom>
          <a:solidFill>
            <a:srgbClr val="1FA463"/>
          </a:solidFill>
          <a:ln w="12700">
            <a:solidFill>
              <a:srgbClr val="1FA46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1353312"/>
            <a:ext cx="5257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PHARMACEUTICAL MARKET</a:t>
            </a:r>
            <a:endParaRPr lang="en-US" sz="1050" dirty="0"/>
          </a:p>
        </p:txBody>
      </p:sp>
      <p:pic>
        <p:nvPicPr>
          <p:cNvPr id="7" name="Image 0" descr="D:\Downloads\shenzhen\deck\assets\bc\greenbo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664208"/>
            <a:ext cx="5257800" cy="1600200"/>
          </a:xfrm>
          <a:prstGeom prst="rect">
            <a:avLst/>
          </a:prstGeom>
        </p:spPr>
      </p:pic>
      <p:pic>
        <p:nvPicPr>
          <p:cNvPr id="8" name="Image 1" descr="D:\Downloads\shenzhen\deck\assets\bc\map-fa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3386" y="1700784"/>
            <a:ext cx="1096869" cy="15087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181051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$ 3.29 Billion</a:t>
            </a:r>
            <a:endParaRPr lang="en-US" sz="2400" dirty="0"/>
          </a:p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 size, 2025–26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3611880" y="1810512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&gt;10.8%</a:t>
            </a:r>
            <a:endParaRPr lang="en-US" sz="2400" dirty="0"/>
          </a:p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annual growth (CAGR)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269748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1.83%  </a:t>
            </a:r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of GDP</a:t>
            </a:r>
            <a:endParaRPr lang="en-US" sz="1800" dirty="0"/>
          </a:p>
        </p:txBody>
      </p:sp>
      <p:pic>
        <p:nvPicPr>
          <p:cNvPr id="12" name="Image 2" descr="D:\Downloads\shenzhen\deck\assets\bc\donu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474720"/>
            <a:ext cx="960120" cy="9601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45920" y="3456432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98% of Demand Met Locally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645920" y="3785616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213 manufacturers make nearly all the medicine. Supply isn't the bottleneck; paying for it at the last mile is.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02920" y="4663440"/>
            <a:ext cx="5257800" cy="86868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502920" y="4663440"/>
            <a:ext cx="54864" cy="86868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85800" y="4700016"/>
            <a:ext cx="49834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Credit flows informally and invisibly between makers and shops, at a cost no one measures.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6172200" y="960120"/>
            <a:ext cx="5516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The Last-Mile Retail Reality: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6172200" y="1353312"/>
            <a:ext cx="5516575" cy="80467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pic>
        <p:nvPicPr>
          <p:cNvPr id="20" name="Image 3" descr="D:\Downloads\shenzhen\deck\assets\bc\sho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2977" y="1481328"/>
            <a:ext cx="461406" cy="5486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040880" y="1426464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173,500+ Licensed Pharmacies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7040880" y="1719072"/>
            <a:ext cx="45564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Plus up to 100,000 unlicensed shops, mostly small and owner-run.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6172200" y="2249424"/>
            <a:ext cx="5516575" cy="80467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pic>
        <p:nvPicPr>
          <p:cNvPr id="24" name="Image 4" descr="D:\Downloads\shenzhen\deck\assets\bc\handcas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2394585"/>
            <a:ext cx="548640" cy="51435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040880" y="2322576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1–3 Lakh of Inventory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7040880" y="2615184"/>
            <a:ext cx="45564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Revenue trickles in tablet by tablet, on 10–15% margins.</a:t>
            </a:r>
            <a:endParaRPr lang="en-US" sz="1150" dirty="0"/>
          </a:p>
        </p:txBody>
      </p:sp>
      <p:sp>
        <p:nvSpPr>
          <p:cNvPr id="27" name="Shape 20"/>
          <p:cNvSpPr/>
          <p:nvPr/>
        </p:nvSpPr>
        <p:spPr>
          <a:xfrm>
            <a:off x="6172200" y="3145536"/>
            <a:ext cx="5516575" cy="80467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pic>
        <p:nvPicPr>
          <p:cNvPr id="28" name="Image 5" descr="D:\Downloads\shenzhen\deck\assets\bc\credi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3273552"/>
            <a:ext cx="548640" cy="54864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040880" y="3218688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Forced Credit Dependency</a:t>
            </a:r>
            <a:endParaRPr lang="en-US" sz="1300" dirty="0"/>
          </a:p>
        </p:txBody>
      </p:sp>
      <p:sp>
        <p:nvSpPr>
          <p:cNvPr id="30" name="Text 22"/>
          <p:cNvSpPr txBox="1"/>
          <p:nvPr/>
        </p:nvSpPr>
        <p:spPr>
          <a:xfrm>
            <a:off x="7040880" y="3511296"/>
            <a:ext cx="45564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30–60 days of informal credit from 10–50 suppliers each.</a:t>
            </a:r>
            <a:endParaRPr lang="en-US" sz="1150" dirty="0"/>
          </a:p>
        </p:txBody>
      </p:sp>
      <p:sp>
        <p:nvSpPr>
          <p:cNvPr id="31" name="Shape 23"/>
          <p:cNvSpPr/>
          <p:nvPr/>
        </p:nvSpPr>
        <p:spPr>
          <a:xfrm>
            <a:off x="6172200" y="4041648"/>
            <a:ext cx="5516575" cy="80467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pic>
        <p:nvPicPr>
          <p:cNvPr id="32" name="Image 6" descr="D:\Downloads\shenzhen\deck\assets\bc\warnsearch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9360" y="4184130"/>
            <a:ext cx="548640" cy="519708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7040880" y="4114800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Expiry and Patient Credit</a:t>
            </a:r>
            <a:endParaRPr lang="en-US" sz="1300" dirty="0"/>
          </a:p>
        </p:txBody>
      </p:sp>
      <p:sp>
        <p:nvSpPr>
          <p:cNvPr id="34" name="Text 25"/>
          <p:cNvSpPr txBox="1"/>
          <p:nvPr/>
        </p:nvSpPr>
        <p:spPr>
          <a:xfrm>
            <a:off x="7040880" y="4407408"/>
            <a:ext cx="45564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Unsold stock expires as pure loss; patients buy on credit too.</a:t>
            </a:r>
            <a:endParaRPr lang="en-US" sz="1150" dirty="0"/>
          </a:p>
        </p:txBody>
      </p:sp>
      <p:sp>
        <p:nvSpPr>
          <p:cNvPr id="35" name="Shape 26"/>
          <p:cNvSpPr/>
          <p:nvPr/>
        </p:nvSpPr>
        <p:spPr>
          <a:xfrm>
            <a:off x="1234440" y="5669280"/>
            <a:ext cx="9722815" cy="566928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1371600" y="5669280"/>
            <a:ext cx="94484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THE LAST MILE RUNS A MULTI-SUPPLIER CREDIT BUSINESS ON PAPER, WITH NO VIEW OF CASH, EXPIRY OR BORROWING COST</a:t>
            </a:r>
            <a:endParaRPr lang="en-US" sz="1100" dirty="0"/>
          </a:p>
        </p:txBody>
      </p:sp>
      <p:sp>
        <p:nvSpPr>
          <p:cNvPr id="37" name="Text 28"/>
          <p:cNvSpPr txBox="1"/>
          <p:nvPr/>
        </p:nvSpPr>
        <p:spPr>
          <a:xfrm>
            <a:off x="502920" y="63093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Sources: BCOLBD market study (BIDA; IFC; BBS Economic Census 2024); DGDA licence data; Springer; UNB.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MEET GREEN LIFE PHARMACY, BOGURA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525158" y="576072"/>
            <a:ext cx="4630522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11185855" cy="457200"/>
          </a:xfrm>
          <a:prstGeom prst="roundRect">
            <a:avLst>
              <a:gd name="adj" fmla="val 12000"/>
            </a:avLst>
          </a:prstGeom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86868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shop behind every number in this deck. </a:t>
            </a:r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Illustrative but consistent; our engines and tests reproduce each figure exactly.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150876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Last 30 Days: Profit and Loss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10512"/>
          <a:ext cx="562356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868680"/>
                <a:gridCol w="26974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Line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BDT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What it means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Sales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412,500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From the sales book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Gross profit at a 12% margin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49,500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After the cost of medicine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Rent, salaries, utilities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36,000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Fixed overheads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Net profit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13,500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What the owner keeps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02920" y="352044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Working Capital Snapshot</a:t>
            </a:r>
            <a:endParaRPr lang="en-US" sz="12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822192"/>
          <a:ext cx="562356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1143000"/>
                <a:gridCol w="24231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Item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Value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Read as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Stock on shelves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BDT 210,000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17.4 days of purchases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Owed by patients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BDT 38,000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2.8 days of sales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Active suppliers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23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23 sets of dues to track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Supplier invoices, 3 months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41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38 paid on time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400800" y="1508760"/>
            <a:ext cx="255254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0" y="1618488"/>
            <a:ext cx="25525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18,400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6492240" y="2130552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stock expires within 60 days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6492240" y="2395728"/>
            <a:ext cx="2369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6 batches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9136228" y="1508760"/>
            <a:ext cx="255254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136228" y="1618488"/>
            <a:ext cx="25525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9,200</a:t>
            </a:r>
            <a:endParaRPr lang="en-US" sz="2400" dirty="0"/>
          </a:p>
        </p:txBody>
      </p:sp>
      <p:sp>
        <p:nvSpPr>
          <p:cNvPr id="18" name="Text 14"/>
          <p:cNvSpPr txBox="1"/>
          <p:nvPr/>
        </p:nvSpPr>
        <p:spPr>
          <a:xfrm>
            <a:off x="9227668" y="2130552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 still go back to suppliers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9227668" y="2395728"/>
            <a:ext cx="2369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68% of a month's profit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6400800" y="2926080"/>
            <a:ext cx="255254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00800" y="3035808"/>
            <a:ext cx="25525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60,000</a:t>
            </a:r>
            <a:endParaRPr lang="en-US" sz="2400" dirty="0"/>
          </a:p>
        </p:txBody>
      </p:sp>
      <p:sp>
        <p:nvSpPr>
          <p:cNvPr id="22" name="Text 18"/>
          <p:cNvSpPr txBox="1"/>
          <p:nvPr/>
        </p:nvSpPr>
        <p:spPr>
          <a:xfrm>
            <a:off x="6492240" y="3547872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Supplier A stock-up order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6492240" y="3813048"/>
            <a:ext cx="2369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due Mon 26 Oct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9136228" y="2926080"/>
            <a:ext cx="255254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9136228" y="3035808"/>
            <a:ext cx="25525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41,000</a:t>
            </a:r>
            <a:endParaRPr lang="en-US" sz="2400" dirty="0"/>
          </a:p>
        </p:txBody>
      </p:sp>
      <p:sp>
        <p:nvSpPr>
          <p:cNvPr id="26" name="Text 22"/>
          <p:cNvSpPr txBox="1"/>
          <p:nvPr/>
        </p:nvSpPr>
        <p:spPr>
          <a:xfrm>
            <a:off x="9227668" y="3547872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forecast cash on that day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9227668" y="3813048"/>
            <a:ext cx="2369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short BDT 19,000</a:t>
            </a:r>
            <a:endParaRPr lang="en-US" sz="950" dirty="0"/>
          </a:p>
        </p:txBody>
      </p:sp>
      <p:sp>
        <p:nvSpPr>
          <p:cNvPr id="28" name="Shape 24"/>
          <p:cNvSpPr/>
          <p:nvPr/>
        </p:nvSpPr>
        <p:spPr>
          <a:xfrm>
            <a:off x="6400800" y="4416552"/>
            <a:ext cx="5287975" cy="960120"/>
          </a:xfrm>
          <a:prstGeom prst="roundRect">
            <a:avLst>
              <a:gd name="adj" fmla="val 4762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29400" y="4416552"/>
            <a:ext cx="4830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One expired batch or one unnecessary loan can wipe out a week of profit.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502920" y="5623560"/>
            <a:ext cx="11185855" cy="658368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02920" y="5623560"/>
            <a:ext cx="54864" cy="658368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5800" y="5660136"/>
            <a:ext cx="1091153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of it lives in 41 paper invoices and a handwritten sales book, so not even the owner can see it.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interio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635508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355080" cy="6858000"/>
          </a:xfrm>
          <a:prstGeom prst="rect">
            <a:avLst/>
          </a:prstGeom>
          <a:solidFill>
            <a:srgbClr val="000000">
              <a:alpha val="55000"/>
            </a:srgbClr>
          </a:solidFill>
          <a:ln w="12700">
            <a:solidFill>
              <a:srgbClr val="000000">
                <a:alpha val="55000"/>
              </a:srgbClr>
            </a:solidFill>
            <a:prstDash val="solid"/>
          </a:ln>
        </p:spPr>
      </p:sp>
      <p:pic>
        <p:nvPicPr>
          <p:cNvPr id="4" name="Image 1" descr="D:\Downloads\shenzhen\deck\assets\bc\grad-gre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55080" y="0"/>
            <a:ext cx="5836615" cy="68580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95528" y="38404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PROBLEM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IDENTIFICATION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629400" y="384048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(LOCAL PHARMACIES)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457200" y="2148840"/>
            <a:ext cx="5440680" cy="2743200"/>
          </a:xfrm>
          <a:prstGeom prst="rect">
            <a:avLst/>
          </a:prstGeom>
          <a:ln w="19050">
            <a:solidFill>
              <a:srgbClr val="FF4B4B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1005840" y="1929384"/>
            <a:ext cx="4343400" cy="438912"/>
          </a:xfrm>
          <a:prstGeom prst="rect">
            <a:avLst/>
          </a:prstGeom>
          <a:solidFill>
            <a:srgbClr val="1A1A1A">
              <a:alpha val="85000"/>
            </a:srgbClr>
          </a:solidFill>
          <a:ln w="12700">
            <a:solidFill>
              <a:srgbClr val="1A1A1A">
                <a:alpha val="8500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005840" y="1929384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CORE ISSUE OF LOCAL PHARMACIES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2514600"/>
            <a:ext cx="4892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PHARMACIES RUN A CREDIT BUSINESS WITH 10–50 SUPPLIERS ON PAPER, SO CASH CRUNCHES AND EXPIRY LOSSES STAY INVISIBLE UNTIL TOO LATE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223760" y="914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SYMPTOMS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903720" y="1737360"/>
            <a:ext cx="0" cy="3950208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897880" y="3520440"/>
            <a:ext cx="1005840" cy="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903720" y="1737360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360920" y="1417320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17" name="Image 2" descr="D:\Downloads\shenzhen\deck\assets\bc\warn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9734" y="1537272"/>
            <a:ext cx="422453" cy="40017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29600" y="1371600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VIEW OF PROFIT, DUES OR STOCK: ONLY PAPER RECORDS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903720" y="2724912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360920" y="240487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1" name="Image 3" descr="D:\Downloads\shenzhen\deck\assets\bc\alar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9734" y="2599928"/>
            <a:ext cx="422453" cy="24996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29600" y="2359152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CASH RUNS SHORT BEFORE BIG SUPPLIER PAYMENTS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6903720" y="3712464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360920" y="3392424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5" name="Image 4" descr="D:\Downloads\shenzhen\deck\assets\bc\gea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9734" y="3525951"/>
            <a:ext cx="422453" cy="37302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229600" y="3346704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EXPIRED STOCK IS PURE LOSS; RETURNS GO UNCLAIMED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6903720" y="4700016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7360920" y="4379976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9" name="Image 5" descr="D:\Downloads\shenzhen\deck\assets\bc\cash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797" y="4488790"/>
            <a:ext cx="374325" cy="422453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8229600" y="4334256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PATIENTS BUY ON CREDIT WHILE THE SHOP OWES SUPPLIERS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6903720" y="5687568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7360920" y="5367528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33" name="Image 6" descr="D:\Downloads\shenzhen\deck\assets\bc\coin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69734" y="5494507"/>
            <a:ext cx="422453" cy="38612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8229600" y="5321808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WAY TO TELL THE CHEAPEST LOAN, OR IF ONE IS NEEDED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ban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635508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355080" cy="6858000"/>
          </a:xfrm>
          <a:prstGeom prst="rect">
            <a:avLst/>
          </a:prstGeom>
          <a:solidFill>
            <a:srgbClr val="000000">
              <a:alpha val="55000"/>
            </a:srgbClr>
          </a:solidFill>
          <a:ln w="12700">
            <a:solidFill>
              <a:srgbClr val="000000">
                <a:alpha val="55000"/>
              </a:srgbClr>
            </a:solidFill>
            <a:prstDash val="solid"/>
          </a:ln>
        </p:spPr>
      </p:sp>
      <p:pic>
        <p:nvPicPr>
          <p:cNvPr id="4" name="Image 1" descr="D:\Downloads\shenzhen\deck\assets\bc\grad-gre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55080" y="0"/>
            <a:ext cx="5836615" cy="68580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95528" y="38404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PROBLEM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IDENTIFICATION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629400" y="384048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(LENDERS)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457200" y="2148840"/>
            <a:ext cx="5440680" cy="2743200"/>
          </a:xfrm>
          <a:prstGeom prst="rect">
            <a:avLst/>
          </a:prstGeom>
          <a:ln w="19050">
            <a:solidFill>
              <a:srgbClr val="FF4B4B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1005840" y="1929384"/>
            <a:ext cx="4343400" cy="438912"/>
          </a:xfrm>
          <a:prstGeom prst="rect">
            <a:avLst/>
          </a:prstGeom>
          <a:solidFill>
            <a:srgbClr val="1A1A1A">
              <a:alpha val="85000"/>
            </a:srgbClr>
          </a:solidFill>
          <a:ln w="12700">
            <a:solidFill>
              <a:srgbClr val="1A1A1A">
                <a:alpha val="8500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005840" y="1929384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CORE ISSUE OF LENDERS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2514600"/>
            <a:ext cx="4892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LENDERS WANT SMALL-BUSINESS BORROWERS, BUT A PAPER-BASED PHARMACY GIVES THEM NOTHING TO VERIFY OR UNDERWRITE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223760" y="914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SYMPTOMS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903720" y="1737360"/>
            <a:ext cx="0" cy="3950208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897880" y="3520440"/>
            <a:ext cx="1005840" cy="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903720" y="1737360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360920" y="1417320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17" name="Image 2" descr="D:\Downloads\shenzhen\deck\assets\bc\ca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797" y="1526134"/>
            <a:ext cx="374325" cy="42245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29600" y="1371600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AUDITED ACCOUNTS, TAX RETURNS OR DIGITAL RECORDS TO ASSESS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903720" y="2724912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360920" y="240487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1" name="Image 3" descr="D:\Downloads\shenzhen\deck\assets\bc\sca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9734" y="2539455"/>
            <a:ext cx="422453" cy="37091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29600" y="2359152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CAN'T TELL IF A PAPER INVOICE IS REAL OR ALREADY FINANCED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6903720" y="3712464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360920" y="3392424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5" name="Image 4" descr="D:\Downloads\shenzhen\deck\assets\bc\gea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9734" y="3525951"/>
            <a:ext cx="422453" cy="37302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229600" y="3346704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PRODUCT FOR A BDT 8,000–60,000 SUPPLIER GAP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6903720" y="4700016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7360920" y="4379976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9" name="Image 5" descr="D:\Downloads\shenzhen\deck\assets\bc\coin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9734" y="4506955"/>
            <a:ext cx="422453" cy="38612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8229600" y="4334256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PUSHED TO GROW CMSME LENDING TO 27% BY 2029, BUT CAN'T REACH THE LAST MILE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6903720" y="5687568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7360920" y="5367528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33" name="Image 6" descr="D:\Downloads\shenzhen\deck\assets\bc\noentr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70636" y="5476342"/>
            <a:ext cx="420647" cy="422453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8229600" y="5321808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FINANCIAL DATA NEEDS EXPLICIT CONSENT UNDER THE PDPO 2025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41148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 3 WAY DEADLOCK</a:t>
            </a:r>
            <a:endParaRPr lang="en-US" sz="3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47208" y="1143000"/>
            <a:ext cx="1097280" cy="10972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267048" y="23317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MANUFACTURERS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267048" y="262432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MUST SELL ON CREDIT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CASH TRAPPED IN RECEIVABLES</a:t>
            </a:r>
            <a:endParaRPr lang="en-US" sz="1200" dirty="0"/>
          </a:p>
        </p:txBody>
      </p:sp>
      <p:pic>
        <p:nvPicPr>
          <p:cNvPr id="6" name="Image 1" descr="D:\Downloads\shenzhen\deck\assets\bc\sh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743" y="3200400"/>
            <a:ext cx="999714" cy="11887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85800" y="44622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PHARMACIES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475488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NEED MEDICINE EVERY DAY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CAN'T PAY UPFRONT OR SEE CASH AHEAD</a:t>
            </a:r>
            <a:endParaRPr lang="en-US" sz="1200" dirty="0"/>
          </a:p>
        </p:txBody>
      </p:sp>
      <p:pic>
        <p:nvPicPr>
          <p:cNvPr id="9" name="Image 2" descr="D:\Downloads\shenzhen\deck\assets\bc\bank3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5719" y="3200400"/>
            <a:ext cx="1242753" cy="11887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848295" y="44622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LENDERS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7848295" y="475488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WANT TO FINANCE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BUT CAN'T VERIFY RISK</a:t>
            </a:r>
            <a:endParaRPr lang="en-US" sz="1200" dirty="0"/>
          </a:p>
        </p:txBody>
      </p:sp>
      <p:pic>
        <p:nvPicPr>
          <p:cNvPr id="12" name="Image 3" descr="D:\Downloads\shenzhen\deck\assets\bc\war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3910" y="3566160"/>
            <a:ext cx="1183875" cy="105156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 flipH="1">
            <a:off x="2926080" y="1143000"/>
            <a:ext cx="2377440" cy="914400"/>
          </a:xfrm>
          <a:prstGeom prst="curvedDownArrow">
            <a:avLst/>
          </a:prstGeom>
          <a:solidFill>
            <a:srgbClr val="BD0000"/>
          </a:solidFill>
          <a:ln w="12700">
            <a:solidFill>
              <a:srgbClr val="BD0000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888175" y="1143000"/>
            <a:ext cx="2377440" cy="914400"/>
          </a:xfrm>
          <a:prstGeom prst="curvedDownArrow">
            <a:avLst/>
          </a:prstGeom>
          <a:solidFill>
            <a:srgbClr val="BD0000"/>
          </a:solidFill>
          <a:ln w="12700">
            <a:solidFill>
              <a:srgbClr val="BD0000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632808" y="4800600"/>
            <a:ext cx="2926080" cy="822960"/>
          </a:xfrm>
          <a:prstGeom prst="curvedUpArrow">
            <a:avLst/>
          </a:prstGeom>
          <a:solidFill>
            <a:srgbClr val="BD0000"/>
          </a:solidFill>
          <a:ln w="12700">
            <a:solidFill>
              <a:srgbClr val="BD0000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1463040" y="5806440"/>
            <a:ext cx="9265615" cy="566928"/>
          </a:xfrm>
          <a:prstGeom prst="roundRect">
            <a:avLst>
              <a:gd name="adj" fmla="val 8065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1691640" y="5806440"/>
            <a:ext cx="8808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Each side waits for another to move first: the pharmacy can't prove itself, the lender can't see it, and the manufacturer carries the gap.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bc\cr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8063" y="-365760"/>
            <a:ext cx="4162097" cy="3017520"/>
          </a:xfrm>
          <a:prstGeom prst="rect">
            <a:avLst/>
          </a:prstGeom>
        </p:spPr>
      </p:pic>
      <p:pic>
        <p:nvPicPr>
          <p:cNvPr id="3" name="Image 1" descr="D:\Downloads\shenzhen\deck\assets\bc\cr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9600000">
            <a:off x="3108960" y="4663440"/>
            <a:ext cx="3291840" cy="23774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0" y="685800"/>
            <a:ext cx="12191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CORE ISSUE STATEMENT</a:t>
            </a:r>
            <a:endParaRPr lang="en-US" sz="2400" dirty="0"/>
          </a:p>
        </p:txBody>
      </p:sp>
      <p:sp>
        <p:nvSpPr>
          <p:cNvPr id="5" name="Shape 1"/>
          <p:cNvSpPr/>
          <p:nvPr/>
        </p:nvSpPr>
        <p:spPr>
          <a:xfrm>
            <a:off x="1143000" y="1828800"/>
            <a:ext cx="9905695" cy="3108960"/>
          </a:xfrm>
          <a:prstGeom prst="roundRect">
            <a:avLst>
              <a:gd name="adj" fmla="val 1471"/>
            </a:avLst>
          </a:prstGeom>
          <a:solidFill>
            <a:srgbClr val="F04A4A"/>
          </a:solidFill>
          <a:ln w="12700">
            <a:solidFill>
              <a:srgbClr val="F04A4A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1463040" y="1828800"/>
            <a:ext cx="926561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A pharmacy already produces the evidence of a working business: invoices, payments and expiry dates. But it is trapped on paper, so no one can act on it in time, not the owner and not a lender.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pharmac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000000">
                <a:alpha val="65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0" y="685800"/>
            <a:ext cx="12191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What's the actual solution?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0" y="141732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0" dirty="0">
                <a:solidFill>
                  <a:srgbClr val="00BF63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LaMP-Copilot</a:t>
            </a:r>
            <a:endParaRPr lang="en-US" sz="6600" dirty="0"/>
          </a:p>
        </p:txBody>
      </p:sp>
      <p:sp>
        <p:nvSpPr>
          <p:cNvPr id="6" name="Shape 3"/>
          <p:cNvSpPr/>
          <p:nvPr/>
        </p:nvSpPr>
        <p:spPr>
          <a:xfrm>
            <a:off x="1325880" y="2788920"/>
            <a:ext cx="82296" cy="150876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600200" y="2743200"/>
            <a:ext cx="899129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An AI finance officer on the owner's phone: real accounts from paper, cash trouble spotted 30 days ahead, and every gap closed the cheapest way.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1325880" y="5074920"/>
            <a:ext cx="1600200" cy="347472"/>
          </a:xfrm>
          <a:prstGeom prst="roundRect">
            <a:avLst>
              <a:gd name="adj" fmla="val 26316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5120640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91640" y="507492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Justification</a:t>
            </a:r>
            <a:endParaRPr lang="en-US" sz="125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5532120"/>
            <a:ext cx="95399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“The cheapest money is the cash you already have.”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Trapped cash first, then free supplier time, and borrow only what's left.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OUR SOLUTION: ONE ANSWER FOR EACH PAIN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556602" y="576072"/>
            <a:ext cx="359907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234440" y="914400"/>
            <a:ext cx="2788920" cy="329184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34440" y="914400"/>
            <a:ext cx="2788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PAIN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914400"/>
            <a:ext cx="3931920" cy="329184"/>
          </a:xfrm>
          <a:prstGeom prst="rect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43400" y="91440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LaMP DOES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595360" y="914400"/>
            <a:ext cx="3093415" cy="329184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95360" y="914400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RESULT AT GREEN LIFE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152704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13" name="Image 0" descr="D:\Downloads\shenzhen\deck\assets\bc\warn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843" y="1650428"/>
            <a:ext cx="434523" cy="411609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1234440" y="1371600"/>
            <a:ext cx="2788920" cy="987552"/>
          </a:xfrm>
          <a:prstGeom prst="rect">
            <a:avLst/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234440" y="1371600"/>
            <a:ext cx="54864" cy="987552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417320" y="1426464"/>
            <a:ext cx="2514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financial picture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Paper records; real profit unknown.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069080" y="172821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343400" y="1371600"/>
            <a:ext cx="3931920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343400" y="1371600"/>
            <a:ext cx="54864" cy="9875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526280" y="1426464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Reads invoice and sales-book photos into real accounts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owner confirms every figure.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321040" y="172821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595360" y="1371600"/>
            <a:ext cx="3093415" cy="987552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778240" y="1426464"/>
            <a:ext cx="2727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13,500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monthly profit, finally visible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502920" y="262432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5" name="Image 1" descr="D:\Downloads\shenzhen\deck\assets\bc\gea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843" y="2761670"/>
            <a:ext cx="434523" cy="383684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1234440" y="2468880"/>
            <a:ext cx="2788920" cy="987552"/>
          </a:xfrm>
          <a:prstGeom prst="rect">
            <a:avLst/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234440" y="2468880"/>
            <a:ext cx="54864" cy="987552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417320" y="2523744"/>
            <a:ext cx="2514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Expiry losses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Returns go unclaimed.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4069080" y="282549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4343400" y="2468880"/>
            <a:ext cx="3931920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4343400" y="2468880"/>
            <a:ext cx="54864" cy="9875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526280" y="2523744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Tracks every batch's expiry and return window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Drafts return claims with the invoice as evidence.</a:t>
            </a:r>
            <a:endParaRPr lang="en-US" sz="1300" dirty="0"/>
          </a:p>
        </p:txBody>
      </p:sp>
      <p:sp>
        <p:nvSpPr>
          <p:cNvPr id="33" name="Shape 29"/>
          <p:cNvSpPr/>
          <p:nvPr/>
        </p:nvSpPr>
        <p:spPr>
          <a:xfrm>
            <a:off x="8321040" y="282549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8595360" y="2468880"/>
            <a:ext cx="3093415" cy="987552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778240" y="2523744"/>
            <a:ext cx="2727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9,200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recovered: 68% of monthly profit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>
            <a:off x="502920" y="372160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37" name="Image 2" descr="D:\Downloads\shenzhen\deck\assets\bc\ala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843" y="3922237"/>
            <a:ext cx="434523" cy="257111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1234440" y="3566160"/>
            <a:ext cx="2788920" cy="987552"/>
          </a:xfrm>
          <a:prstGeom prst="rect">
            <a:avLst/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1234440" y="3566160"/>
            <a:ext cx="54864" cy="987552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1417320" y="3621024"/>
            <a:ext cx="2514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Cash crunch before big orders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order is due before the cash.</a:t>
            </a:r>
            <a:endParaRPr lang="en-US" sz="1300" dirty="0"/>
          </a:p>
        </p:txBody>
      </p:sp>
      <p:sp>
        <p:nvSpPr>
          <p:cNvPr id="41" name="Shape 36"/>
          <p:cNvSpPr/>
          <p:nvPr/>
        </p:nvSpPr>
        <p:spPr>
          <a:xfrm>
            <a:off x="4069080" y="392277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4343400" y="3566160"/>
            <a:ext cx="3931920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4343400" y="3566160"/>
            <a:ext cx="54864" cy="9875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4526280" y="3621024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Forecasts 30 days across all 23 suppliers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Trims slow movers; asks for more days.</a:t>
            </a:r>
            <a:endParaRPr lang="en-US" sz="1300" dirty="0"/>
          </a:p>
        </p:txBody>
      </p:sp>
      <p:sp>
        <p:nvSpPr>
          <p:cNvPr id="45" name="Shape 40"/>
          <p:cNvSpPr/>
          <p:nvPr/>
        </p:nvSpPr>
        <p:spPr>
          <a:xfrm>
            <a:off x="8321040" y="392277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46" name="Shape 41"/>
          <p:cNvSpPr/>
          <p:nvPr/>
        </p:nvSpPr>
        <p:spPr>
          <a:xfrm>
            <a:off x="8595360" y="3566160"/>
            <a:ext cx="3093415" cy="987552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8778240" y="3621024"/>
            <a:ext cx="2727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19,000 → 8,200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shortfall, spotted 10 days early</a:t>
            </a:r>
            <a:endParaRPr lang="en-US" sz="2000" dirty="0"/>
          </a:p>
        </p:txBody>
      </p:sp>
      <p:sp>
        <p:nvSpPr>
          <p:cNvPr id="48" name="Shape 43"/>
          <p:cNvSpPr/>
          <p:nvPr/>
        </p:nvSpPr>
        <p:spPr>
          <a:xfrm>
            <a:off x="502920" y="481888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49" name="Image 3" descr="D:\Downloads\shenzhen\deck\assets\bc\coi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843" y="4949495"/>
            <a:ext cx="434523" cy="397154"/>
          </a:xfrm>
          <a:prstGeom prst="rect">
            <a:avLst/>
          </a:prstGeom>
        </p:spPr>
      </p:pic>
      <p:sp>
        <p:nvSpPr>
          <p:cNvPr id="50" name="Shape 44"/>
          <p:cNvSpPr/>
          <p:nvPr/>
        </p:nvSpPr>
        <p:spPr>
          <a:xfrm>
            <a:off x="1234440" y="4663440"/>
            <a:ext cx="2788920" cy="987552"/>
          </a:xfrm>
          <a:prstGeom prst="rect">
            <a:avLst/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51" name="Shape 45"/>
          <p:cNvSpPr/>
          <p:nvPr/>
        </p:nvSpPr>
        <p:spPr>
          <a:xfrm>
            <a:off x="1234440" y="4663440"/>
            <a:ext cx="54864" cy="987552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1417320" y="4718304"/>
            <a:ext cx="2514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fair finance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Lenders can't verify paper.</a:t>
            </a:r>
            <a:endParaRPr lang="en-US" sz="1300" dirty="0"/>
          </a:p>
        </p:txBody>
      </p:sp>
      <p:sp>
        <p:nvSpPr>
          <p:cNvPr id="53" name="Shape 47"/>
          <p:cNvSpPr/>
          <p:nvPr/>
        </p:nvSpPr>
        <p:spPr>
          <a:xfrm>
            <a:off x="4069080" y="502005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54" name="Shape 48"/>
          <p:cNvSpPr/>
          <p:nvPr/>
        </p:nvSpPr>
        <p:spPr>
          <a:xfrm>
            <a:off x="4343400" y="4663440"/>
            <a:ext cx="3931920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55" name="Shape 49"/>
          <p:cNvSpPr/>
          <p:nvPr/>
        </p:nvSpPr>
        <p:spPr>
          <a:xfrm>
            <a:off x="4343400" y="4663440"/>
            <a:ext cx="54864" cy="9875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4526280" y="4718304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Prices every option in taka; builds a credit passport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Shared only with chosen lenders.</a:t>
            </a:r>
            <a:endParaRPr lang="en-US" sz="1300" dirty="0"/>
          </a:p>
        </p:txBody>
      </p:sp>
      <p:sp>
        <p:nvSpPr>
          <p:cNvPr id="57" name="Shape 51"/>
          <p:cNvSpPr/>
          <p:nvPr/>
        </p:nvSpPr>
        <p:spPr>
          <a:xfrm>
            <a:off x="8321040" y="502005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58" name="Shape 52"/>
          <p:cNvSpPr/>
          <p:nvPr/>
        </p:nvSpPr>
        <p:spPr>
          <a:xfrm>
            <a:off x="8595360" y="4663440"/>
            <a:ext cx="3093415" cy="987552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59" name="Text 53"/>
          <p:cNvSpPr txBox="1"/>
          <p:nvPr/>
        </p:nvSpPr>
        <p:spPr>
          <a:xfrm>
            <a:off x="8778240" y="4718304"/>
            <a:ext cx="2727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0–182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instead of BDT 422</a:t>
            </a:r>
            <a:endParaRPr lang="en-US" sz="2000" dirty="0"/>
          </a:p>
        </p:txBody>
      </p:sp>
      <p:sp>
        <p:nvSpPr>
          <p:cNvPr id="60" name="Shape 54"/>
          <p:cNvSpPr/>
          <p:nvPr/>
        </p:nvSpPr>
        <p:spPr>
          <a:xfrm>
            <a:off x="502920" y="5870448"/>
            <a:ext cx="11185855" cy="502920"/>
          </a:xfrm>
          <a:prstGeom prst="roundRect">
            <a:avLst>
              <a:gd name="adj" fmla="val 9091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731520" y="5870448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Every taka comes from deterministic code. The AI never computes or moves money.</a:t>
            </a:r>
            <a:endParaRPr lang="en-US" sz="1150" dirty="0"/>
          </a:p>
        </p:txBody>
      </p:sp>
      <p:sp>
        <p:nvSpPr>
          <p:cNvPr id="62" name="Shape 5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1.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Capture (Turn Paper into Data)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Owner's Phone · Pharmacy Counter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owner photographs invoices and sales-book pages; an OpenAI vision model reads batches, expiry dates, quantities, prices and due dates.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Unsure fields are highlighted; the owner fixes them before anything is saved.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Plain-code checks verify totals and dates.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Text in a photo is data: a planted “approve the maximum loan” is flagged.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Paper becomes a verified record the owner has confirmed.</a:t>
            </a:r>
            <a:endParaRPr lang="en-US" sz="1550" dirty="0"/>
          </a:p>
        </p:txBody>
      </p:sp>
      <p:pic>
        <p:nvPicPr>
          <p:cNvPr id="21" name="Image 1" descr="D:\Downloads\shenzhen\deck\assets\step-ph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3573624"/>
            <a:ext cx="3291840" cy="32843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2.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Understand (Build Real Accounts)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LaMP Engines · Deterministic Python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confirmed records, LaMP builds the accounts a lender would ask for: profit, margin, stock days and money in expiring stock.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Green Life: sales BDT 412,500, net profit BDT 13,500 at a 12% margin.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batches worth BDT 18,400 expire within 60 days; BDT 9,200 is still returnable.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LaMP drafts the return claims with the invoice attached.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Profit, dues, stock and expiry on one screen.</a:t>
            </a:r>
            <a:endParaRPr lang="en-US" sz="1550" dirty="0"/>
          </a:p>
        </p:txBody>
      </p:sp>
      <p:pic>
        <p:nvPicPr>
          <p:cNvPr id="21" name="Image 1" descr="D:\Downloads\shenzhen\deck\assets\step-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3638550"/>
            <a:ext cx="3429000" cy="32194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3.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Anticipate (Forecast and Alert)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30-Day Cash Forecast · All 23 Suppliers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30-day forecast combines sales, patient dues, supplier dues, rent, salaries and orders, and marks the first day cash runs out.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Supplier A's BDT 60,000 order is due Mon 26 Oct; cash that day: BDT 41,000.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Alert ten days ahead: short BDT 19,000.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Also flags expiring stock, closing return windows and overdue patient dues.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Cash trouble shows up while it's still cheap to fix.</a:t>
            </a:r>
            <a:endParaRPr lang="en-US" sz="1550" dirty="0"/>
          </a:p>
        </p:txBody>
      </p:sp>
      <p:pic>
        <p:nvPicPr>
          <p:cNvPr id="21" name="Image 1" descr="D:\Downloads\shenzhen\deck\assets\step-or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0899" y="3017520"/>
            <a:ext cx="310652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4.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Fund (Cheapest Money First)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Funding Plan · Owner Approval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 boxes of a slow mover sell 0.2 a day with 60 sellable days left, so only 12 will sell before expiry.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Trim to 12 boxes: BDT 10,800 saved, gap down from BDT 19,000 to BDT 8,200.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Options in taka: supplier extension free, wallet loan BDT 182, bank supplier credit BDT 492.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Plan: ask for 20 more days, with the wallet loan as the day-7 fallback. The owner approves each step.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BDT 0–182 instead of BDT 422, and no stock left to expire.</a:t>
            </a:r>
            <a:endParaRPr lang="en-US" sz="1550" dirty="0"/>
          </a:p>
        </p:txBody>
      </p:sp>
      <p:pic>
        <p:nvPicPr>
          <p:cNvPr id="21" name="Image 1" descr="D:\Downloads\shenzhen\deck\assets\step-ca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8885" y="2834640"/>
            <a:ext cx="302199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5.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Prove (Credit Passport and Consent)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 View · Sandbox Partners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 of 41 supplier-confirmed invoices paid on time become a credit passport: on-time estimate 0.826, default risk 3%.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lender's rule turns that into a 75.2% advance; the lender decides in its own view.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Shared only with lenders the owner switches on; withdrawable any time (PDPO 2025).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registry locks each invoice so it can't be financed twice.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verifiable, consented path to fair finance.</a:t>
            </a:r>
            <a:endParaRPr lang="en-US" sz="1550" dirty="0"/>
          </a:p>
        </p:txBody>
      </p:sp>
      <p:pic>
        <p:nvPicPr>
          <p:cNvPr id="21" name="Image 1" descr="D:\Downloads\shenzhen\deck\assets\step-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3452648"/>
            <a:ext cx="3291840" cy="340535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COPILOT, LIVE ON GREEN LIFE'S DATA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556602" y="576072"/>
            <a:ext cx="359907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94360" y="960120"/>
            <a:ext cx="2295144" cy="4796614"/>
          </a:xfrm>
          <a:prstGeom prst="roundRect">
            <a:avLst>
              <a:gd name="adj" fmla="val 4781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pic>
        <p:nvPicPr>
          <p:cNvPr id="7" name="Image 0" descr="D:\Downloads\shenzhen\deck\assets\today-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7512" y="1033272"/>
            <a:ext cx="2148840" cy="46503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5829886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Today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108960" y="960120"/>
            <a:ext cx="2295144" cy="4796614"/>
          </a:xfrm>
          <a:prstGeom prst="roundRect">
            <a:avLst>
              <a:gd name="adj" fmla="val 4781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pic>
        <p:nvPicPr>
          <p:cNvPr id="10" name="Image 1" descr="D:\Downloads\shenzhen\deck\assets\funding-m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182112" y="1033272"/>
            <a:ext cx="2148840" cy="465031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108960" y="5829886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Funding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623560" y="960120"/>
            <a:ext cx="2295144" cy="4796614"/>
          </a:xfrm>
          <a:prstGeom prst="roundRect">
            <a:avLst>
              <a:gd name="adj" fmla="val 4781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pic>
        <p:nvPicPr>
          <p:cNvPr id="13" name="Image 2" descr="D:\Downloads\shenzhen\deck\assets\passport-m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96712" y="1033272"/>
            <a:ext cx="2148840" cy="465031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623560" y="5829886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Credit passport</a:t>
            </a:r>
            <a:endParaRPr lang="en-US" sz="1150" dirty="0"/>
          </a:p>
        </p:txBody>
      </p:sp>
      <p:sp>
        <p:nvSpPr>
          <p:cNvPr id="15" name="Text 10"/>
          <p:cNvSpPr txBox="1"/>
          <p:nvPr/>
        </p:nvSpPr>
        <p:spPr>
          <a:xfrm>
            <a:off x="8183880" y="96012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the owner sees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183880" y="1371600"/>
            <a:ext cx="3504895" cy="10058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183880" y="1371600"/>
            <a:ext cx="54864" cy="10058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366760" y="1408176"/>
            <a:ext cx="32305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Today: </a:t>
            </a:r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banner names the next shortfall: Short BDT 19,000, Mon 26 Oct, in 10 days.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183880" y="2487168"/>
            <a:ext cx="3504895" cy="10058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183880" y="2487168"/>
            <a:ext cx="54864" cy="10058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366760" y="2523744"/>
            <a:ext cx="32305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Funding: </a:t>
            </a:r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BDT 8,200 left after the trim, a three-step plan, every option in taka. The owner approves.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8183880" y="3602736"/>
            <a:ext cx="3504895" cy="10058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8183880" y="3602736"/>
            <a:ext cx="54864" cy="10058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366760" y="3639312"/>
            <a:ext cx="32305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Credit passport: </a:t>
            </a:r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 of 41 on time, a 75.2% advance offer, and a sharing switch per lender.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8183880" y="4800600"/>
            <a:ext cx="3504895" cy="1325880"/>
          </a:xfrm>
          <a:prstGeom prst="roundRect">
            <a:avLst>
              <a:gd name="adj" fmla="val 3448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8366760" y="4800600"/>
            <a:ext cx="313913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F06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Built and running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Next.js · FastAPI · PostgreSQL · OpenAI Responses API · live audit log · 73 automated tests</a:t>
            </a:r>
            <a:endParaRPr lang="en-US" sz="1150" dirty="0"/>
          </a:p>
        </p:txBody>
      </p:sp>
      <p:sp>
        <p:nvSpPr>
          <p:cNvPr id="27" name="Shape 2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SYSTEM</a:t>
            </a:r>
            <a:pPr indent="0" marL="0">
              <a:buNone/>
            </a:pPr>
            <a:r>
              <a:rPr lang="en-US" sz="1600" dirty="0">
                <a:solidFill>
                  <a:srgbClr val="00BF63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 FLOW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4124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AI READS AND PROPOSES, CODE CALCULATES — </a:t>
            </a:r>
            <a:pPr indent="0" marL="0">
              <a:buNone/>
            </a:pPr>
            <a:r>
              <a:rPr lang="en-US" sz="145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AND ONLY THE OWNER CAN APPROVE MONEY MOVING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607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7607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01</a:t>
            </a:r>
            <a:endParaRPr lang="en-US" sz="8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715768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Photo Capture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23113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7744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45059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5059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02</a:t>
            </a:r>
            <a:endParaRPr lang="en-US" sz="8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096" y="2715768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37744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AI Extraction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10565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5196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32511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32511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03</a:t>
            </a:r>
            <a:endParaRPr lang="en-US" sz="80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8616" y="2715768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425196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Owner Confirms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598017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12648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19963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19963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04</a:t>
            </a:r>
            <a:endParaRPr lang="en-US" sz="80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136" y="2715768"/>
            <a:ext cx="365760" cy="36576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12648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Engines Calculate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785469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800100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807415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807415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05</a:t>
            </a:r>
            <a:endParaRPr lang="en-US" sz="800" dirty="0"/>
          </a:p>
        </p:txBody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7656" y="2715768"/>
            <a:ext cx="365760" cy="36576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0100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Owner Approves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972921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987552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994867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994867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06</a:t>
            </a:r>
            <a:endParaRPr lang="en-US" sz="800" dirty="0"/>
          </a:p>
        </p:txBody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52176" y="2715768"/>
            <a:ext cx="365760" cy="365760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987552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Sandbox Executes</a:t>
            </a:r>
            <a:endParaRPr lang="en-US" sz="1050" dirty="0"/>
          </a:p>
        </p:txBody>
      </p:sp>
      <p:sp>
        <p:nvSpPr>
          <p:cNvPr id="40" name="Text 32"/>
          <p:cNvSpPr txBox="1"/>
          <p:nvPr/>
        </p:nvSpPr>
        <p:spPr>
          <a:xfrm>
            <a:off x="502920" y="1463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8A8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OUTSIDE SERVICES</a:t>
            </a:r>
            <a:endParaRPr lang="en-US" sz="800" dirty="0"/>
          </a:p>
        </p:txBody>
      </p:sp>
      <p:sp>
        <p:nvSpPr>
          <p:cNvPr id="41" name="Shape 33"/>
          <p:cNvSpPr/>
          <p:nvPr/>
        </p:nvSpPr>
        <p:spPr>
          <a:xfrm>
            <a:off x="2331720" y="1737360"/>
            <a:ext cx="1810512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2331720" y="173736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OpenAI Responses API (vision)</a:t>
            </a:r>
            <a:endParaRPr lang="en-US" sz="850" dirty="0"/>
          </a:p>
        </p:txBody>
      </p:sp>
      <p:sp>
        <p:nvSpPr>
          <p:cNvPr id="43" name="Shape 35"/>
          <p:cNvSpPr/>
          <p:nvPr/>
        </p:nvSpPr>
        <p:spPr>
          <a:xfrm>
            <a:off x="3236976" y="2103120"/>
            <a:ext cx="0" cy="411480"/>
          </a:xfrm>
          <a:prstGeom prst="line">
            <a:avLst/>
          </a:prstGeom>
          <a:noFill/>
          <a:ln w="12700">
            <a:solidFill>
              <a:srgbClr val="8A8A8A"/>
            </a:solidFill>
            <a:prstDash val="dash"/>
            <a:tailEnd type="triangle"/>
          </a:ln>
        </p:spPr>
      </p:sp>
      <p:sp>
        <p:nvSpPr>
          <p:cNvPr id="44" name="Shape 36"/>
          <p:cNvSpPr/>
          <p:nvPr/>
        </p:nvSpPr>
        <p:spPr>
          <a:xfrm>
            <a:off x="6080760" y="1737360"/>
            <a:ext cx="1810512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45" name="Text 37"/>
          <p:cNvSpPr txBox="1"/>
          <p:nvPr/>
        </p:nvSpPr>
        <p:spPr>
          <a:xfrm>
            <a:off x="6080760" y="173736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Copilot chat: read-only tools</a:t>
            </a:r>
            <a:endParaRPr lang="en-US" sz="850" dirty="0"/>
          </a:p>
        </p:txBody>
      </p:sp>
      <p:sp>
        <p:nvSpPr>
          <p:cNvPr id="46" name="Shape 38"/>
          <p:cNvSpPr/>
          <p:nvPr/>
        </p:nvSpPr>
        <p:spPr>
          <a:xfrm>
            <a:off x="6986016" y="2103120"/>
            <a:ext cx="0" cy="411480"/>
          </a:xfrm>
          <a:prstGeom prst="line">
            <a:avLst/>
          </a:prstGeom>
          <a:noFill/>
          <a:ln w="12700">
            <a:solidFill>
              <a:srgbClr val="8A8A8A"/>
            </a:solidFill>
            <a:prstDash val="dash"/>
            <a:tailEnd type="triangle"/>
          </a:ln>
        </p:spPr>
      </p:sp>
      <p:sp>
        <p:nvSpPr>
          <p:cNvPr id="47" name="Shape 39"/>
          <p:cNvSpPr/>
          <p:nvPr/>
        </p:nvSpPr>
        <p:spPr>
          <a:xfrm>
            <a:off x="9829800" y="1737360"/>
            <a:ext cx="1810512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9829800" y="173736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Lender sandbox (consented)</a:t>
            </a:r>
            <a:endParaRPr lang="en-US" sz="850" dirty="0"/>
          </a:p>
        </p:txBody>
      </p:sp>
      <p:sp>
        <p:nvSpPr>
          <p:cNvPr id="49" name="Shape 41"/>
          <p:cNvSpPr/>
          <p:nvPr/>
        </p:nvSpPr>
        <p:spPr>
          <a:xfrm>
            <a:off x="10735056" y="2103120"/>
            <a:ext cx="0" cy="411480"/>
          </a:xfrm>
          <a:prstGeom prst="line">
            <a:avLst/>
          </a:prstGeom>
          <a:noFill/>
          <a:ln w="12700">
            <a:solidFill>
              <a:srgbClr val="8A8A8A"/>
            </a:solidFill>
            <a:prstDash val="dash"/>
            <a:tailEnd type="triangle"/>
          </a:ln>
        </p:spPr>
      </p:sp>
      <p:sp>
        <p:nvSpPr>
          <p:cNvPr id="50" name="Shape 42"/>
          <p:cNvSpPr/>
          <p:nvPr/>
        </p:nvSpPr>
        <p:spPr>
          <a:xfrm>
            <a:off x="136245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1" name="Shape 43"/>
          <p:cNvSpPr/>
          <p:nvPr/>
        </p:nvSpPr>
        <p:spPr>
          <a:xfrm>
            <a:off x="323697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2" name="Shape 44"/>
          <p:cNvSpPr/>
          <p:nvPr/>
        </p:nvSpPr>
        <p:spPr>
          <a:xfrm>
            <a:off x="511149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3" name="Shape 45"/>
          <p:cNvSpPr/>
          <p:nvPr/>
        </p:nvSpPr>
        <p:spPr>
          <a:xfrm>
            <a:off x="698601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4" name="Shape 46"/>
          <p:cNvSpPr/>
          <p:nvPr/>
        </p:nvSpPr>
        <p:spPr>
          <a:xfrm>
            <a:off x="886053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5" name="Shape 47"/>
          <p:cNvSpPr/>
          <p:nvPr/>
        </p:nvSpPr>
        <p:spPr>
          <a:xfrm>
            <a:off x="1073505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6" name="Shape 48"/>
          <p:cNvSpPr/>
          <p:nvPr/>
        </p:nvSpPr>
        <p:spPr>
          <a:xfrm>
            <a:off x="502920" y="3840480"/>
            <a:ext cx="11185855" cy="1024128"/>
          </a:xfrm>
          <a:prstGeom prst="roundRect">
            <a:avLst>
              <a:gd name="adj" fmla="val 5357"/>
            </a:avLst>
          </a:prstGeom>
          <a:solidFill>
            <a:srgbClr val="4CB877"/>
          </a:solidFill>
          <a:ln w="12700">
            <a:solidFill>
              <a:srgbClr val="4CB877"/>
            </a:solidFill>
            <a:prstDash val="solid"/>
          </a:ln>
        </p:spPr>
      </p:sp>
      <p:sp>
        <p:nvSpPr>
          <p:cNvPr id="57" name="Text 49"/>
          <p:cNvSpPr txBox="1"/>
          <p:nvPr/>
        </p:nvSpPr>
        <p:spPr>
          <a:xfrm>
            <a:off x="685800" y="39136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DETERMINISTIC ENGINES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plain Python, the only place money is computed</a:t>
            </a:r>
            <a:endParaRPr lang="en-US" sz="1000" dirty="0"/>
          </a:p>
        </p:txBody>
      </p:sp>
      <p:sp>
        <p:nvSpPr>
          <p:cNvPr id="58" name="Shape 50"/>
          <p:cNvSpPr/>
          <p:nvPr/>
        </p:nvSpPr>
        <p:spPr>
          <a:xfrm>
            <a:off x="685800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1"/>
          <p:cNvSpPr txBox="1"/>
          <p:nvPr/>
        </p:nvSpPr>
        <p:spPr>
          <a:xfrm>
            <a:off x="685800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Accounts</a:t>
            </a:r>
            <a:endParaRPr lang="en-US" sz="900" dirty="0"/>
          </a:p>
        </p:txBody>
      </p:sp>
      <p:sp>
        <p:nvSpPr>
          <p:cNvPr id="60" name="Shape 52"/>
          <p:cNvSpPr/>
          <p:nvPr/>
        </p:nvSpPr>
        <p:spPr>
          <a:xfrm>
            <a:off x="1898193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3"/>
          <p:cNvSpPr txBox="1"/>
          <p:nvPr/>
        </p:nvSpPr>
        <p:spPr>
          <a:xfrm>
            <a:off x="1898193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Dues</a:t>
            </a:r>
            <a:endParaRPr lang="en-US" sz="900" dirty="0"/>
          </a:p>
        </p:txBody>
      </p:sp>
      <p:sp>
        <p:nvSpPr>
          <p:cNvPr id="62" name="Shape 54"/>
          <p:cNvSpPr/>
          <p:nvPr/>
        </p:nvSpPr>
        <p:spPr>
          <a:xfrm>
            <a:off x="3110586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Text 55"/>
          <p:cNvSpPr txBox="1"/>
          <p:nvPr/>
        </p:nvSpPr>
        <p:spPr>
          <a:xfrm>
            <a:off x="3110586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Forecast</a:t>
            </a:r>
            <a:endParaRPr lang="en-US" sz="900" dirty="0"/>
          </a:p>
        </p:txBody>
      </p:sp>
      <p:sp>
        <p:nvSpPr>
          <p:cNvPr id="64" name="Shape 56"/>
          <p:cNvSpPr/>
          <p:nvPr/>
        </p:nvSpPr>
        <p:spPr>
          <a:xfrm>
            <a:off x="4322978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Text 57"/>
          <p:cNvSpPr txBox="1"/>
          <p:nvPr/>
        </p:nvSpPr>
        <p:spPr>
          <a:xfrm>
            <a:off x="4322978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Expiry</a:t>
            </a:r>
            <a:endParaRPr lang="en-US" sz="900" dirty="0"/>
          </a:p>
        </p:txBody>
      </p:sp>
      <p:sp>
        <p:nvSpPr>
          <p:cNvPr id="66" name="Shape 58"/>
          <p:cNvSpPr/>
          <p:nvPr/>
        </p:nvSpPr>
        <p:spPr>
          <a:xfrm>
            <a:off x="5535371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Text 59"/>
          <p:cNvSpPr txBox="1"/>
          <p:nvPr/>
        </p:nvSpPr>
        <p:spPr>
          <a:xfrm>
            <a:off x="5535371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Orders &amp; trim</a:t>
            </a:r>
            <a:endParaRPr lang="en-US" sz="900" dirty="0"/>
          </a:p>
        </p:txBody>
      </p:sp>
      <p:sp>
        <p:nvSpPr>
          <p:cNvPr id="68" name="Shape 60"/>
          <p:cNvSpPr/>
          <p:nvPr/>
        </p:nvSpPr>
        <p:spPr>
          <a:xfrm>
            <a:off x="6747764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Text 61"/>
          <p:cNvSpPr txBox="1"/>
          <p:nvPr/>
        </p:nvSpPr>
        <p:spPr>
          <a:xfrm>
            <a:off x="6747764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Credit passport</a:t>
            </a:r>
            <a:endParaRPr lang="en-US" sz="900" dirty="0"/>
          </a:p>
        </p:txBody>
      </p:sp>
      <p:sp>
        <p:nvSpPr>
          <p:cNvPr id="70" name="Shape 62"/>
          <p:cNvSpPr/>
          <p:nvPr/>
        </p:nvSpPr>
        <p:spPr>
          <a:xfrm>
            <a:off x="7960157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3"/>
          <p:cNvSpPr txBox="1"/>
          <p:nvPr/>
        </p:nvSpPr>
        <p:spPr>
          <a:xfrm>
            <a:off x="7960157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Funding plan</a:t>
            </a:r>
            <a:endParaRPr lang="en-US" sz="900" dirty="0"/>
          </a:p>
        </p:txBody>
      </p:sp>
      <p:sp>
        <p:nvSpPr>
          <p:cNvPr id="72" name="Shape 64"/>
          <p:cNvSpPr/>
          <p:nvPr/>
        </p:nvSpPr>
        <p:spPr>
          <a:xfrm>
            <a:off x="9172550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65"/>
          <p:cNvSpPr txBox="1"/>
          <p:nvPr/>
        </p:nvSpPr>
        <p:spPr>
          <a:xfrm>
            <a:off x="9172550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Registry</a:t>
            </a:r>
            <a:endParaRPr lang="en-US" sz="900" dirty="0"/>
          </a:p>
        </p:txBody>
      </p:sp>
      <p:sp>
        <p:nvSpPr>
          <p:cNvPr id="74" name="Shape 66"/>
          <p:cNvSpPr/>
          <p:nvPr/>
        </p:nvSpPr>
        <p:spPr>
          <a:xfrm>
            <a:off x="10384942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67"/>
          <p:cNvSpPr txBox="1"/>
          <p:nvPr/>
        </p:nvSpPr>
        <p:spPr>
          <a:xfrm>
            <a:off x="10384942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Actions</a:t>
            </a:r>
            <a:endParaRPr lang="en-US" sz="900" dirty="0"/>
          </a:p>
        </p:txBody>
      </p:sp>
      <p:sp>
        <p:nvSpPr>
          <p:cNvPr id="76" name="Shape 68"/>
          <p:cNvSpPr/>
          <p:nvPr/>
        </p:nvSpPr>
        <p:spPr>
          <a:xfrm>
            <a:off x="502920" y="5257800"/>
            <a:ext cx="3611880" cy="457200"/>
          </a:xfrm>
          <a:prstGeom prst="roundRect">
            <a:avLst>
              <a:gd name="adj" fmla="val 16000"/>
            </a:avLst>
          </a:prstGeom>
          <a:ln w="12700">
            <a:solidFill>
              <a:srgbClr val="8A8A8A"/>
            </a:solidFill>
            <a:prstDash val="dash"/>
          </a:ln>
        </p:spPr>
      </p:sp>
      <p:sp>
        <p:nvSpPr>
          <p:cNvPr id="77" name="Text 69"/>
          <p:cNvSpPr txBox="1"/>
          <p:nvPr/>
        </p:nvSpPr>
        <p:spPr>
          <a:xfrm>
            <a:off x="502920" y="525780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AI agent — </a:t>
            </a:r>
            <a:pPr algn="ctr" indent="0" marL="0">
              <a:buNone/>
            </a:pPr>
            <a:r>
              <a:rPr lang="en-US" sz="10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cannot approve, pay or contact anyone</a:t>
            </a:r>
            <a:endParaRPr lang="en-US" sz="1000" dirty="0"/>
          </a:p>
        </p:txBody>
      </p:sp>
      <p:sp>
        <p:nvSpPr>
          <p:cNvPr id="78" name="Shape 70"/>
          <p:cNvSpPr/>
          <p:nvPr/>
        </p:nvSpPr>
        <p:spPr>
          <a:xfrm>
            <a:off x="4297680" y="5257800"/>
            <a:ext cx="3611880" cy="457200"/>
          </a:xfrm>
          <a:prstGeom prst="roundRect">
            <a:avLst>
              <a:gd name="adj" fmla="val 16000"/>
            </a:avLst>
          </a:prstGeom>
          <a:ln w="12700">
            <a:solidFill>
              <a:srgbClr val="8A8A8A"/>
            </a:solidFill>
            <a:prstDash val="dash"/>
          </a:ln>
        </p:spPr>
      </p:sp>
      <p:sp>
        <p:nvSpPr>
          <p:cNvPr id="79" name="Text 71"/>
          <p:cNvSpPr txBox="1"/>
          <p:nvPr/>
        </p:nvSpPr>
        <p:spPr>
          <a:xfrm>
            <a:off x="4297680" y="525780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PostgreSQL — </a:t>
            </a:r>
            <a:pPr algn="ctr" indent="0" marL="0">
              <a:buNone/>
            </a:pPr>
            <a:r>
              <a:rPr lang="en-US" sz="10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seed, captures, actions</a:t>
            </a:r>
            <a:endParaRPr lang="en-US" sz="1000" dirty="0"/>
          </a:p>
        </p:txBody>
      </p:sp>
      <p:sp>
        <p:nvSpPr>
          <p:cNvPr id="80" name="Shape 72"/>
          <p:cNvSpPr/>
          <p:nvPr/>
        </p:nvSpPr>
        <p:spPr>
          <a:xfrm>
            <a:off x="8092440" y="5257800"/>
            <a:ext cx="3596335" cy="457200"/>
          </a:xfrm>
          <a:prstGeom prst="roundRect">
            <a:avLst>
              <a:gd name="adj" fmla="val 16000"/>
            </a:avLst>
          </a:prstGeom>
          <a:ln w="12700">
            <a:solidFill>
              <a:srgbClr val="8A8A8A"/>
            </a:solidFill>
            <a:prstDash val="dash"/>
          </a:ln>
        </p:spPr>
      </p:sp>
      <p:sp>
        <p:nvSpPr>
          <p:cNvPr id="81" name="Text 73"/>
          <p:cNvSpPr txBox="1"/>
          <p:nvPr/>
        </p:nvSpPr>
        <p:spPr>
          <a:xfrm>
            <a:off x="8092440" y="5257800"/>
            <a:ext cx="3596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Audit log — </a:t>
            </a:r>
            <a:pPr algn="ctr" indent="0" marL="0">
              <a:buNone/>
            </a:pPr>
            <a:r>
              <a:rPr lang="en-US" sz="10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every event, T0–T3, streamed live</a:t>
            </a:r>
            <a:endParaRPr lang="en-US" sz="1000" dirty="0"/>
          </a:p>
        </p:txBody>
      </p:sp>
      <p:sp>
        <p:nvSpPr>
          <p:cNvPr id="82" name="Shape 7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TRUST MECHANISM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6868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LaMP makes AI misuse and double financing structurally impossible, not just against the rules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5432908" cy="457200"/>
          </a:xfrm>
          <a:prstGeom prst="roundRect">
            <a:avLst>
              <a:gd name="adj" fmla="val 12000"/>
            </a:avLst>
          </a:prstGeom>
          <a:solidFill>
            <a:srgbClr val="C9403A"/>
          </a:solidFill>
          <a:ln w="12700">
            <a:solidFill>
              <a:srgbClr val="C940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325880"/>
            <a:ext cx="50671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Can anyone trick the AI into moving money?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874520"/>
            <a:ext cx="5432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— there is no tool to do it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2240280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42316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2554834"/>
            <a:ext cx="285293" cy="285293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331720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Read-only tools plus one proposal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60604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chat can read and propose. No tool approves, pays or contacts anyone.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02920" y="3264408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85800" y="3447288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474" y="3578962"/>
            <a:ext cx="285293" cy="285293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417320" y="3355848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Approval lives outside the AI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1417320" y="3630168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the owner approves, in the app; code then runs the step in a sandbox.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02920" y="4288536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85800" y="4471416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74" y="4603090"/>
            <a:ext cx="285293" cy="28529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417320" y="4379976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Text in photos is data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1417320" y="4654296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planted “approve the maximum loan” is flagged, and nothing happens.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6255868" y="1325880"/>
            <a:ext cx="5432908" cy="457200"/>
          </a:xfrm>
          <a:prstGeom prst="roundRect">
            <a:avLst>
              <a:gd name="adj" fmla="val 12000"/>
            </a:avLst>
          </a:prstGeom>
          <a:solidFill>
            <a:srgbClr val="C9403A"/>
          </a:solidFill>
          <a:ln w="12700">
            <a:solidFill>
              <a:srgbClr val="C9403A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438748" y="1325880"/>
            <a:ext cx="50671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Can one invoice be financed twice, or data leak to a lender?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6255868" y="1874520"/>
            <a:ext cx="5432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— registry lock and consent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6255868" y="2240280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6438748" y="242316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0421" y="2554834"/>
            <a:ext cx="285293" cy="285293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170268" y="2331720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One invoice, one financing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170268" y="260604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invoice's fingerprint is locked; a second application is rejected.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6255868" y="3264408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6438748" y="3447288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0421" y="3578962"/>
            <a:ext cx="285293" cy="285293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170268" y="3355848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Consent per lender and scope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7170268" y="3630168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Lenders see only what the owner shares, withdrawable any time.</a:t>
            </a:r>
            <a:endParaRPr lang="en-US" sz="1150" dirty="0"/>
          </a:p>
        </p:txBody>
      </p:sp>
      <p:sp>
        <p:nvSpPr>
          <p:cNvPr id="36" name="Shape 29"/>
          <p:cNvSpPr/>
          <p:nvPr/>
        </p:nvSpPr>
        <p:spPr>
          <a:xfrm>
            <a:off x="6255868" y="4288536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6438748" y="4471416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0421" y="4603090"/>
            <a:ext cx="285293" cy="285293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7170268" y="4379976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patient medicine data</a:t>
            </a:r>
            <a:endParaRPr lang="en-US" sz="1200" dirty="0"/>
          </a:p>
        </p:txBody>
      </p:sp>
      <p:sp>
        <p:nvSpPr>
          <p:cNvPr id="40" name="Text 32"/>
          <p:cNvSpPr txBox="1"/>
          <p:nvPr/>
        </p:nvSpPr>
        <p:spPr>
          <a:xfrm>
            <a:off x="7170268" y="4654296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 dues are amounts only; purchases are health data.</a:t>
            </a:r>
            <a:endParaRPr lang="en-US" sz="1150" dirty="0"/>
          </a:p>
        </p:txBody>
      </p:sp>
      <p:sp>
        <p:nvSpPr>
          <p:cNvPr id="41" name="Shape 33"/>
          <p:cNvSpPr/>
          <p:nvPr/>
        </p:nvSpPr>
        <p:spPr>
          <a:xfrm>
            <a:off x="502920" y="5440680"/>
            <a:ext cx="11185855" cy="685800"/>
          </a:xfrm>
          <a:prstGeom prst="roundRect">
            <a:avLst>
              <a:gd name="adj" fmla="val 6667"/>
            </a:avLst>
          </a:prstGeom>
          <a:solidFill>
            <a:srgbClr val="1F7A47"/>
          </a:solidFill>
          <a:ln w="12700">
            <a:solidFill>
              <a:srgbClr val="1F7A47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731520" y="54406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The guarantee is structural: the tools the AI would need don't exist, and every decision is logged.</a:t>
            </a:r>
            <a:endParaRPr lang="en-US" sz="1200" dirty="0"/>
          </a:p>
        </p:txBody>
      </p:sp>
      <p:sp>
        <p:nvSpPr>
          <p:cNvPr id="43" name="Shape 35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SECURITY &amp; COMPLIANCE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634179" y="576072"/>
            <a:ext cx="6521501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14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Permission Tiers</a:t>
            </a:r>
            <a:endParaRPr lang="en-US" sz="12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16152"/>
          <a:ext cx="54864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600200"/>
                <a:gridCol w="3383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Tier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Who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What it may do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T0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Regulator, auditor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Read-only audit views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T1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Owner, photo reading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Capture, confirm, approve own actions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T2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Engines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Compute; no outside contact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T3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Lenders, money steps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Consented reads, sandbox payouts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63640" y="914400"/>
            <a:ext cx="5425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What's Real and What's Sandbox in This Prototype</a:t>
            </a:r>
            <a:endParaRPr lang="en-US" sz="125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216152"/>
          <a:ext cx="5425135" cy="914400"/>
        </p:xfrm>
        <a:graphic>
          <a:graphicData uri="http://schemas.openxmlformats.org/drawingml/2006/table">
            <a:tbl>
              <a:tblPr/>
              <a:tblGrid>
                <a:gridCol w="2712568"/>
                <a:gridCol w="2712568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Real, working code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Sandbox, said openly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Photo reading (OpenAI vision)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Lenders, decisions, payouts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All money maths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Supplier replies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Copilot chat, read-only tools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Supplier invoice confirmation (seeded)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Approvals, consent, duplicate guard, audit log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Federated learning (roadmap)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02920" y="3429000"/>
            <a:ext cx="2659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02920" y="3520440"/>
            <a:ext cx="265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73 / 73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4041648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tests pass, no AI calls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345104" y="3429000"/>
            <a:ext cx="2659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345104" y="3520440"/>
            <a:ext cx="265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3482264" y="4041648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money figures computed by the AI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187288" y="3429000"/>
            <a:ext cx="2659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187288" y="3520440"/>
            <a:ext cx="265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Every</a:t>
            </a:r>
            <a:endParaRPr lang="en-US" sz="2400" dirty="0"/>
          </a:p>
        </p:txBody>
      </p:sp>
      <p:sp>
        <p:nvSpPr>
          <p:cNvPr id="18" name="Text 14"/>
          <p:cNvSpPr txBox="1"/>
          <p:nvPr/>
        </p:nvSpPr>
        <p:spPr>
          <a:xfrm>
            <a:off x="6324448" y="4041648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state change logged and streamed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9029471" y="3429000"/>
            <a:ext cx="2659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9029471" y="3520440"/>
            <a:ext cx="265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Per lender</a:t>
            </a:r>
            <a:endParaRPr lang="en-US" sz="2400" dirty="0"/>
          </a:p>
        </p:txBody>
      </p:sp>
      <p:sp>
        <p:nvSpPr>
          <p:cNvPr id="21" name="Text 17"/>
          <p:cNvSpPr txBox="1"/>
          <p:nvPr/>
        </p:nvSpPr>
        <p:spPr>
          <a:xfrm>
            <a:off x="9166631" y="4041648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consent, withdrawable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02920" y="4892040"/>
            <a:ext cx="5486400" cy="91440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02920" y="4892040"/>
            <a:ext cx="54864" cy="9144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4928616"/>
            <a:ext cx="5212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Execution evidence: every event is exported with its tier to logs/sandbox_execution_trace.log.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6263640" y="4892040"/>
            <a:ext cx="5425135" cy="914400"/>
          </a:xfrm>
          <a:prstGeom prst="roundRect">
            <a:avLst>
              <a:gd name="adj" fmla="val 5000"/>
            </a:avLst>
          </a:prstGeom>
          <a:solidFill>
            <a:srgbClr val="FDF0F0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446520" y="4892040"/>
            <a:ext cx="50593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Lenders, payouts and supplier replies are sandbox partners. No real money moves.</a:t>
            </a:r>
            <a:endParaRPr lang="en-US" sz="1250" dirty="0"/>
          </a:p>
        </p:txBody>
      </p:sp>
      <p:sp>
        <p:nvSpPr>
          <p:cNvPr id="27" name="Shape 2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INNOVATION: WHAT MAKES LaMP NEW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353251" y="576072"/>
            <a:ext cx="4802429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11185855" cy="457200"/>
          </a:xfrm>
          <a:prstGeom prst="roundRect">
            <a:avLst>
              <a:gd name="adj" fmla="val 12000"/>
            </a:avLst>
          </a:prstGeom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86868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Four things no pharmacy tool in Bangladesh does today, each working in the prototype.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1536192"/>
            <a:ext cx="5455768" cy="187452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536192"/>
            <a:ext cx="54864" cy="187452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58952" y="176479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11" name="Image 0" descr="D:\Downloads\shenzhen\deck\assets\bc\ala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766" y="1959848"/>
            <a:ext cx="422453" cy="249969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554480" y="1755648"/>
            <a:ext cx="2392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WORKING CAPITAL · EXPIRY-AWARE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1554480" y="1975104"/>
            <a:ext cx="2392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Orders and credit sized on what will actually sell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129888" y="173736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175608" y="17373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10,800</a:t>
            </a:r>
            <a:endParaRPr lang="en-US" sz="2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stock avoided on one order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758952" y="2679192"/>
            <a:ext cx="4998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rate and days to expiry decide how much will sell; orders and credit are sized on that.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33008" y="1536192"/>
            <a:ext cx="5455768" cy="187452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233008" y="1536192"/>
            <a:ext cx="54864" cy="187452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89040" y="176479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0" name="Image 1" descr="D:\Downloads\shenzhen\deck\assets\bc\sh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1438" y="1873606"/>
            <a:ext cx="355283" cy="422453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284568" y="1755648"/>
            <a:ext cx="2392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NEUTRAL · MULTI-SUPPLIER</a:t>
            </a:r>
            <a:endParaRPr lang="en-US" sz="850" dirty="0"/>
          </a:p>
        </p:txBody>
      </p:sp>
      <p:sp>
        <p:nvSpPr>
          <p:cNvPr id="22" name="Text 18"/>
          <p:cNvSpPr txBox="1"/>
          <p:nvPr/>
        </p:nvSpPr>
        <p:spPr>
          <a:xfrm>
            <a:off x="7284568" y="1975104"/>
            <a:ext cx="2392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Works across every supplier, not one distributor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9859975" y="173736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9905695" y="17373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10–50</a:t>
            </a:r>
            <a:endParaRPr lang="en-US" sz="2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suppliers per pharmacy</a:t>
            </a:r>
            <a:endParaRPr lang="en-US" sz="2000" dirty="0"/>
          </a:p>
        </p:txBody>
      </p:sp>
      <p:sp>
        <p:nvSpPr>
          <p:cNvPr id="25" name="Text 21"/>
          <p:cNvSpPr txBox="1"/>
          <p:nvPr/>
        </p:nvSpPr>
        <p:spPr>
          <a:xfrm>
            <a:off x="6489040" y="2679192"/>
            <a:ext cx="4998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Dues, returns and financing across all suppliers, not one distributor's orders.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502920" y="3593592"/>
            <a:ext cx="5455768" cy="187452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02920" y="3593592"/>
            <a:ext cx="54864" cy="187452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58952" y="382219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9" name="Image 2" descr="D:\Downloads\shenzhen\deck\assets\bc\credi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766" y="3931006"/>
            <a:ext cx="422453" cy="422453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1554480" y="3813048"/>
            <a:ext cx="2392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CREDIT · CONSENTED PASSPORT</a:t>
            </a:r>
            <a:endParaRPr lang="en-US" sz="850" dirty="0"/>
          </a:p>
        </p:txBody>
      </p:sp>
      <p:sp>
        <p:nvSpPr>
          <p:cNvPr id="31" name="Text 26"/>
          <p:cNvSpPr txBox="1"/>
          <p:nvPr/>
        </p:nvSpPr>
        <p:spPr>
          <a:xfrm>
            <a:off x="1554480" y="4032504"/>
            <a:ext cx="2392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Supplier payments become lender evidence</a:t>
            </a:r>
            <a:endParaRPr lang="en-US" sz="1250" dirty="0"/>
          </a:p>
        </p:txBody>
      </p:sp>
      <p:sp>
        <p:nvSpPr>
          <p:cNvPr id="32" name="Shape 27"/>
          <p:cNvSpPr/>
          <p:nvPr/>
        </p:nvSpPr>
        <p:spPr>
          <a:xfrm>
            <a:off x="4129888" y="379476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4175608" y="37947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75.2%</a:t>
            </a:r>
            <a:endParaRPr lang="en-US" sz="2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advance on 38 of 41 on time</a:t>
            </a:r>
            <a:endParaRPr lang="en-US" sz="2000" dirty="0"/>
          </a:p>
        </p:txBody>
      </p:sp>
      <p:sp>
        <p:nvSpPr>
          <p:cNvPr id="34" name="Text 29"/>
          <p:cNvSpPr txBox="1"/>
          <p:nvPr/>
        </p:nvSpPr>
        <p:spPr>
          <a:xfrm>
            <a:off x="758952" y="4736592"/>
            <a:ext cx="4998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supplier-confirmed record replaces missing collateral, shared per lender with consent.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6233008" y="3593592"/>
            <a:ext cx="5455768" cy="187452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6233008" y="3593592"/>
            <a:ext cx="54864" cy="187452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489040" y="382219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6200" y="3959352"/>
            <a:ext cx="365760" cy="36576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7284568" y="3813048"/>
            <a:ext cx="2392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AGENTIC · SAFE BY DESIGN</a:t>
            </a:r>
            <a:endParaRPr lang="en-US" sz="850" dirty="0"/>
          </a:p>
        </p:txBody>
      </p:sp>
      <p:sp>
        <p:nvSpPr>
          <p:cNvPr id="40" name="Text 34"/>
          <p:cNvSpPr txBox="1"/>
          <p:nvPr/>
        </p:nvSpPr>
        <p:spPr>
          <a:xfrm>
            <a:off x="7284568" y="4032504"/>
            <a:ext cx="2392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An agent that acts, without touching money</a:t>
            </a:r>
            <a:endParaRPr lang="en-US" sz="1250" dirty="0"/>
          </a:p>
        </p:txBody>
      </p:sp>
      <p:sp>
        <p:nvSpPr>
          <p:cNvPr id="41" name="Shape 35"/>
          <p:cNvSpPr/>
          <p:nvPr/>
        </p:nvSpPr>
        <p:spPr>
          <a:xfrm>
            <a:off x="9859975" y="379476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9905695" y="37947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money figures computed by the AI</a:t>
            </a:r>
            <a:endParaRPr lang="en-US" sz="2000" dirty="0"/>
          </a:p>
        </p:txBody>
      </p:sp>
      <p:sp>
        <p:nvSpPr>
          <p:cNvPr id="43" name="Text 37"/>
          <p:cNvSpPr txBox="1"/>
          <p:nvPr/>
        </p:nvSpPr>
        <p:spPr>
          <a:xfrm>
            <a:off x="6489040" y="4736592"/>
            <a:ext cx="4998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reads, forecasts and prepares actions; code computes every taka, and the owner approves.</a:t>
            </a:r>
            <a:endParaRPr lang="en-US" sz="1200" dirty="0"/>
          </a:p>
        </p:txBody>
      </p:sp>
      <p:sp>
        <p:nvSpPr>
          <p:cNvPr id="44" name="Shape 38"/>
          <p:cNvSpPr/>
          <p:nvPr/>
        </p:nvSpPr>
        <p:spPr>
          <a:xfrm>
            <a:off x="502920" y="5623560"/>
            <a:ext cx="11185855" cy="640080"/>
          </a:xfrm>
          <a:prstGeom prst="roundRect">
            <a:avLst>
              <a:gd name="adj" fmla="val 7143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731520" y="5623560"/>
            <a:ext cx="10728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No one else combines all four: pharmacy-specific, neutral across suppliers, consented, and safe by design.</a:t>
            </a:r>
            <a:endParaRPr lang="en-US" sz="1250" dirty="0"/>
          </a:p>
        </p:txBody>
      </p:sp>
      <p:sp>
        <p:nvSpPr>
          <p:cNvPr id="46" name="Shape 40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COMPETITIVE LANDSCAPE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634179" y="576072"/>
            <a:ext cx="6521501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11185855" cy="502920"/>
          </a:xfrm>
          <a:prstGeom prst="roundRect">
            <a:avLst>
              <a:gd name="adj" fmla="val 10909"/>
            </a:avLst>
          </a:prstGeom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868680"/>
            <a:ext cx="10820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Others prove the demand; </a:t>
            </a:r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none is neutral, pharmacy-aware, agentic and capital-light at once.</a:t>
            </a:r>
            <a:endParaRPr lang="en-US" sz="11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1118585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520440"/>
                <a:gridCol w="1417320"/>
                <a:gridCol w="1417320"/>
                <a:gridCol w="1371600"/>
                <a:gridCol w="144475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Player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Model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Neutral across suppliers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Knows batches and expiry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Acts, not just records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 stock or capital on its books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PulseTech (Bangladesh)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Distributor finance; 12,000+ Dhaka pharmacies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No: own orders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Partly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TallyKhata (Bangladesh)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Bookkeeping for any merchant; 4.4M users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No: any shop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Shelf Life (Nigeria, Kenya)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Pay-as-you-sell pharmacy stock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Partly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No: holds stock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Retailio (India)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Marketplace credit; 100,000+ pharmacies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No: own marketplace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Partly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Partly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LaMP-Copilot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AI finance officer across all suppliers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02920" y="5120640"/>
            <a:ext cx="3606698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02920" y="512064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5157216"/>
            <a:ext cx="333237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vs PulseTech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Neutral across all 10–50 suppliers.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92498" y="5120640"/>
            <a:ext cx="3606698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92498" y="512064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378" y="5157216"/>
            <a:ext cx="333237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vs TallyKhata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Pharmacy-specific and agentic.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082077" y="5120640"/>
            <a:ext cx="3606698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082077" y="512064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64957" y="5157216"/>
            <a:ext cx="333237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vs Shelf Life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stock or capital on our books.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02920" y="603504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Sources: Financial Express, Startup Bangladesh, The Daily Star, Accion, TechCabal, BioSpectrum, FinBox.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REVENUE MODEL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58922" y="576072"/>
            <a:ext cx="789675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11185855" cy="685800"/>
          </a:xfrm>
          <a:prstGeom prst="roundRect">
            <a:avLst>
              <a:gd name="adj" fmla="val 8000"/>
            </a:avLst>
          </a:prstGeom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8686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Primary: </a:t>
            </a:r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 origination fee from partner lenders.   </a:t>
            </a:r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Second: </a:t>
            </a:r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manufacturer and distributor programmes.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1737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Who Pays LaMP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057400"/>
            <a:ext cx="1783080" cy="18745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65860" y="219456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2286000"/>
            <a:ext cx="274320" cy="27432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94360" y="272491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Pharmacy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612648" y="3182112"/>
            <a:ext cx="1563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Pays nothing; free is our adoption lever.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2395728" y="2057400"/>
            <a:ext cx="1783080" cy="18745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058668" y="219456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08" y="228600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487168" y="272491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Partner lender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2505456" y="3182112"/>
            <a:ext cx="1563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Gets verified, consented borrowers.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4288536" y="2057400"/>
            <a:ext cx="1783080" cy="18745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951476" y="219456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2916" y="2286000"/>
            <a:ext cx="274320" cy="27432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379976" y="272491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Manufacturer or distributor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4398264" y="3182112"/>
            <a:ext cx="1563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Gets faster collections and evidence-backed returns.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6355080" y="1737360"/>
            <a:ext cx="5333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Revenue Streams (proposed, to be validated in the pilot)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2057400"/>
          <a:ext cx="533369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417320"/>
                <a:gridCol w="1325880"/>
                <a:gridCol w="11247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Stream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Payer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Charged on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Proposed rate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Origination fee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Partner lender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Amount advanced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1.0%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Programme subscription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Manufacturer or distributor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Per company, per month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BDT 2.5–3.5 lakh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Pharmacy app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Pharmacy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—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Free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 20"/>
          <p:cNvSpPr txBox="1"/>
          <p:nvPr/>
        </p:nvSpPr>
        <p:spPr>
          <a:xfrm>
            <a:off x="502920" y="4160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Pricing Logic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502920" y="4480560"/>
            <a:ext cx="5577840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502920" y="448056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85800" y="4517136"/>
            <a:ext cx="53035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Lenders already pay to acquire borrowers; a verified applicant is cheaper to approve.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502920" y="5349240"/>
            <a:ext cx="5577840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502920" y="534924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685800" y="5385816"/>
            <a:ext cx="53035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Recovered expiry and on-time collections are worth more than the subscription.</a:t>
            </a:r>
            <a:endParaRPr lang="en-US" sz="1200" dirty="0"/>
          </a:p>
        </p:txBody>
      </p:sp>
      <p:sp>
        <p:nvSpPr>
          <p:cNvPr id="33" name="Shape 27"/>
          <p:cNvSpPr/>
          <p:nvPr/>
        </p:nvSpPr>
        <p:spPr>
          <a:xfrm>
            <a:off x="6355080" y="4160520"/>
            <a:ext cx="5333695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6355080" y="4160520"/>
            <a:ext cx="5333695" cy="384048"/>
          </a:xfrm>
          <a:prstGeom prst="rect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6355080" y="4160520"/>
            <a:ext cx="53336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Why this model is capital-light</a:t>
            </a:r>
            <a:endParaRPr lang="en-US" sz="1150" dirty="0"/>
          </a:p>
        </p:txBody>
      </p:sp>
      <p:sp>
        <p:nvSpPr>
          <p:cNvPr id="36" name="Text 30"/>
          <p:cNvSpPr txBox="1"/>
          <p:nvPr/>
        </p:nvSpPr>
        <p:spPr>
          <a:xfrm>
            <a:off x="6583680" y="4617720"/>
            <a:ext cx="48764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LaMP never lends or holds funds. Lenders supply capital and carry risk; we supply verification. No stock, no loan book.</a:t>
            </a:r>
            <a:endParaRPr lang="en-US" sz="1350" dirty="0"/>
          </a:p>
        </p:txBody>
      </p:sp>
      <p:sp>
        <p:nvSpPr>
          <p:cNvPr id="37" name="Shape 3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BF63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FEASIBILITY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02412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99032" y="100584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0000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RISK EVENTS</a:t>
            </a:r>
            <a:endParaRPr lang="en-US" sz="13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024128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279392" y="100584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MITIGATION</a:t>
            </a:r>
            <a:endParaRPr lang="en-US" sz="13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1024128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159752" y="100584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9875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CONTINGENCY</a:t>
            </a:r>
            <a:endParaRPr lang="en-US" sz="13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0" y="1024128"/>
            <a:ext cx="274320" cy="27432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040112" y="10058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030A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RISK LEVEL</a:t>
            </a:r>
            <a:endParaRPr lang="en-US" sz="1300" dirty="0"/>
          </a:p>
        </p:txBody>
      </p:sp>
      <p:sp>
        <p:nvSpPr>
          <p:cNvPr id="12" name="Shape 6"/>
          <p:cNvSpPr/>
          <p:nvPr/>
        </p:nvSpPr>
        <p:spPr>
          <a:xfrm>
            <a:off x="502920" y="1463040"/>
            <a:ext cx="41148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502920" y="146304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9BD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1051560" y="1463040"/>
            <a:ext cx="2743200" cy="1051560"/>
          </a:xfrm>
          <a:prstGeom prst="rect">
            <a:avLst/>
          </a:prstGeom>
          <a:solidFill>
            <a:srgbClr val="EEF5FC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1161288" y="146304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Owners skip invoices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3931920" y="1463040"/>
            <a:ext cx="2743200" cy="1051560"/>
          </a:xfrm>
          <a:prstGeom prst="rect">
            <a:avLst/>
          </a:prstGeom>
          <a:solidFill>
            <a:srgbClr val="EEF5FC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4041648" y="146304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Capture takes a minute and pays off at once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812280" y="1463040"/>
            <a:ext cx="2743200" cy="1051560"/>
          </a:xfrm>
          <a:prstGeom prst="rect">
            <a:avLst/>
          </a:prstGeom>
          <a:solidFill>
            <a:srgbClr val="EEF5FC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922008" y="146304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Distributors upload e-invoices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9692640" y="1463040"/>
            <a:ext cx="1993392" cy="1051560"/>
          </a:xfrm>
          <a:prstGeom prst="rect">
            <a:avLst/>
          </a:prstGeom>
          <a:solidFill>
            <a:srgbClr val="EEF5FC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9802368" y="1463040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Medium</a:t>
            </a:r>
            <a:endParaRPr lang="en-US" sz="1500" dirty="0"/>
          </a:p>
        </p:txBody>
      </p:sp>
      <p:sp>
        <p:nvSpPr>
          <p:cNvPr id="22" name="Shape 16"/>
          <p:cNvSpPr/>
          <p:nvPr/>
        </p:nvSpPr>
        <p:spPr>
          <a:xfrm>
            <a:off x="502920" y="2651760"/>
            <a:ext cx="41148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502920" y="265176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BF63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</a:t>
            </a:r>
            <a:endParaRPr lang="en-US" sz="1500" dirty="0"/>
          </a:p>
        </p:txBody>
      </p:sp>
      <p:sp>
        <p:nvSpPr>
          <p:cNvPr id="24" name="Shape 18"/>
          <p:cNvSpPr/>
          <p:nvPr/>
        </p:nvSpPr>
        <p:spPr>
          <a:xfrm>
            <a:off x="1051560" y="2651760"/>
            <a:ext cx="2743200" cy="1051560"/>
          </a:xfrm>
          <a:prstGeom prst="rect">
            <a:avLst/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1161288" y="265176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misreads a figure</a:t>
            </a:r>
            <a:endParaRPr lang="en-US" sz="1300" dirty="0"/>
          </a:p>
        </p:txBody>
      </p:sp>
      <p:sp>
        <p:nvSpPr>
          <p:cNvPr id="26" name="Shape 20"/>
          <p:cNvSpPr/>
          <p:nvPr/>
        </p:nvSpPr>
        <p:spPr>
          <a:xfrm>
            <a:off x="3931920" y="2651760"/>
            <a:ext cx="2743200" cy="1051560"/>
          </a:xfrm>
          <a:prstGeom prst="rect">
            <a:avLst/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4041648" y="265176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confirms every field; code checks totals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6812280" y="2651760"/>
            <a:ext cx="2743200" cy="1051560"/>
          </a:xfrm>
          <a:prstGeom prst="rect">
            <a:avLst/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922008" y="265176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Manual entry fallback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9692640" y="2651760"/>
            <a:ext cx="1993392" cy="1051560"/>
          </a:xfrm>
          <a:prstGeom prst="rect">
            <a:avLst/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9802368" y="2651760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Medium</a:t>
            </a:r>
            <a:endParaRPr lang="en-US" sz="1500" dirty="0"/>
          </a:p>
        </p:txBody>
      </p:sp>
      <p:sp>
        <p:nvSpPr>
          <p:cNvPr id="32" name="Shape 26"/>
          <p:cNvSpPr/>
          <p:nvPr/>
        </p:nvSpPr>
        <p:spPr>
          <a:xfrm>
            <a:off x="502920" y="3840480"/>
            <a:ext cx="41148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502920" y="384048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A383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</a:t>
            </a:r>
            <a:endParaRPr lang="en-US" sz="1500" dirty="0"/>
          </a:p>
        </p:txBody>
      </p:sp>
      <p:sp>
        <p:nvSpPr>
          <p:cNvPr id="34" name="Shape 28"/>
          <p:cNvSpPr/>
          <p:nvPr/>
        </p:nvSpPr>
        <p:spPr>
          <a:xfrm>
            <a:off x="1051560" y="384048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1161288" y="384048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Lenders distrust the record</a:t>
            </a:r>
            <a:endParaRPr lang="en-US" sz="1300" dirty="0"/>
          </a:p>
        </p:txBody>
      </p:sp>
      <p:sp>
        <p:nvSpPr>
          <p:cNvPr id="36" name="Shape 30"/>
          <p:cNvSpPr/>
          <p:nvPr/>
        </p:nvSpPr>
        <p:spPr>
          <a:xfrm>
            <a:off x="3931920" y="384048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4041648" y="384048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Supplier-confirmed invoices, cautious score</a:t>
            </a:r>
            <a:endParaRPr lang="en-US" sz="1300" dirty="0"/>
          </a:p>
        </p:txBody>
      </p:sp>
      <p:sp>
        <p:nvSpPr>
          <p:cNvPr id="38" name="Shape 32"/>
          <p:cNvSpPr/>
          <p:nvPr/>
        </p:nvSpPr>
        <p:spPr>
          <a:xfrm>
            <a:off x="6812280" y="384048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6922008" y="384048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Shadow mode with one lender first</a:t>
            </a:r>
            <a:endParaRPr lang="en-US" sz="1300" dirty="0"/>
          </a:p>
        </p:txBody>
      </p:sp>
      <p:sp>
        <p:nvSpPr>
          <p:cNvPr id="40" name="Shape 34"/>
          <p:cNvSpPr/>
          <p:nvPr/>
        </p:nvSpPr>
        <p:spPr>
          <a:xfrm>
            <a:off x="9692640" y="3840480"/>
            <a:ext cx="1993392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9802368" y="3840480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High</a:t>
            </a:r>
            <a:endParaRPr lang="en-US" sz="1500" dirty="0"/>
          </a:p>
        </p:txBody>
      </p:sp>
      <p:sp>
        <p:nvSpPr>
          <p:cNvPr id="42" name="Shape 36"/>
          <p:cNvSpPr/>
          <p:nvPr/>
        </p:nvSpPr>
        <p:spPr>
          <a:xfrm>
            <a:off x="502920" y="5029200"/>
            <a:ext cx="41148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502920" y="502920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A383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D</a:t>
            </a:r>
            <a:endParaRPr lang="en-US" sz="1500" dirty="0"/>
          </a:p>
        </p:txBody>
      </p:sp>
      <p:sp>
        <p:nvSpPr>
          <p:cNvPr id="44" name="Shape 38"/>
          <p:cNvSpPr/>
          <p:nvPr/>
        </p:nvSpPr>
        <p:spPr>
          <a:xfrm>
            <a:off x="1051560" y="502920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1161288" y="502920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Privacy breach or AI misuse</a:t>
            </a:r>
            <a:endParaRPr lang="en-US" sz="1300" dirty="0"/>
          </a:p>
        </p:txBody>
      </p:sp>
      <p:sp>
        <p:nvSpPr>
          <p:cNvPr id="46" name="Shape 40"/>
          <p:cNvSpPr/>
          <p:nvPr/>
        </p:nvSpPr>
        <p:spPr>
          <a:xfrm>
            <a:off x="3931920" y="502920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4041648" y="502920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Consent per lender, no patient data, no money tools</a:t>
            </a:r>
            <a:endParaRPr lang="en-US" sz="1300" dirty="0"/>
          </a:p>
        </p:txBody>
      </p:sp>
      <p:sp>
        <p:nvSpPr>
          <p:cNvPr id="48" name="Shape 42"/>
          <p:cNvSpPr/>
          <p:nvPr/>
        </p:nvSpPr>
        <p:spPr>
          <a:xfrm>
            <a:off x="6812280" y="502920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9" name="Text 43"/>
          <p:cNvSpPr txBox="1"/>
          <p:nvPr/>
        </p:nvSpPr>
        <p:spPr>
          <a:xfrm>
            <a:off x="6922008" y="502920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Legal review and red-team tests</a:t>
            </a:r>
            <a:endParaRPr lang="en-US" sz="1300" dirty="0"/>
          </a:p>
        </p:txBody>
      </p:sp>
      <p:sp>
        <p:nvSpPr>
          <p:cNvPr id="50" name="Shape 44"/>
          <p:cNvSpPr/>
          <p:nvPr/>
        </p:nvSpPr>
        <p:spPr>
          <a:xfrm>
            <a:off x="9692640" y="5029200"/>
            <a:ext cx="1993392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9802368" y="5029200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High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Action Plan &amp; Roadmap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4124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one pharmacy in Bogura to nationwide impact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903720" y="411480"/>
            <a:ext cx="0" cy="73152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086600" y="365760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Prove it with real invoices and repayments, grow across suppliers, then become the neutral finance layer.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576218" cy="4114800"/>
          </a:xfrm>
          <a:prstGeom prst="roundRect">
            <a:avLst>
              <a:gd name="adj" fmla="val 1023"/>
            </a:avLst>
          </a:prstGeom>
          <a:solidFill>
            <a:srgbClr val="FFFFFF"/>
          </a:solidFill>
          <a:ln w="12700">
            <a:solidFill>
              <a:srgbClr val="BFE6C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508760"/>
            <a:ext cx="384048" cy="384048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124712" y="14813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Pilot  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(0–6 months)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24712" y="1755648"/>
            <a:ext cx="28446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Prove the model with 20 pharmacies in Bogura.</a:t>
            </a:r>
            <a:endParaRPr lang="en-US" sz="9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121408"/>
            <a:ext cx="384048" cy="38404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22960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Pharmacies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281" y="2121408"/>
            <a:ext cx="384048" cy="38404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801673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Copilot</a:t>
            </a:r>
            <a:endParaRPr lang="en-US" sz="800" dirty="0"/>
          </a:p>
        </p:txBody>
      </p:sp>
      <p:sp>
        <p:nvSpPr>
          <p:cNvPr id="16" name="Text 12"/>
          <p:cNvSpPr txBox="1"/>
          <p:nvPr/>
        </p:nvSpPr>
        <p:spPr>
          <a:xfrm>
            <a:off x="2670353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2994" y="2121408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2780386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</a:t>
            </a:r>
            <a:endParaRPr lang="en-US" sz="800" dirty="0"/>
          </a:p>
        </p:txBody>
      </p:sp>
      <p:sp>
        <p:nvSpPr>
          <p:cNvPr id="19" name="Shape 14"/>
          <p:cNvSpPr/>
          <p:nvPr/>
        </p:nvSpPr>
        <p:spPr>
          <a:xfrm>
            <a:off x="612648" y="2834640"/>
            <a:ext cx="3356762" cy="14630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31520" y="2889504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Key Actions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731520" y="3154680"/>
            <a:ext cx="31647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pharmacies, one distributor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lender, shadow mode first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Measure accuracy and forecast error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12648" y="4389120"/>
            <a:ext cx="3356762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31520" y="4434840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Success Metrics (targets)</a:t>
            </a:r>
            <a:endParaRPr lang="en-US" sz="1000" dirty="0"/>
          </a:p>
        </p:txBody>
      </p:sp>
      <p:sp>
        <p:nvSpPr>
          <p:cNvPr id="24" name="Text 19"/>
          <p:cNvSpPr txBox="1"/>
          <p:nvPr/>
        </p:nvSpPr>
        <p:spPr>
          <a:xfrm>
            <a:off x="731520" y="4681728"/>
            <a:ext cx="31647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80%+ of invoices captured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loans repaid on time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4115714" y="3337560"/>
            <a:ext cx="155448" cy="182880"/>
          </a:xfrm>
          <a:prstGeom prst="rightArrow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07738" y="1371600"/>
            <a:ext cx="3576218" cy="4114800"/>
          </a:xfrm>
          <a:prstGeom prst="roundRect">
            <a:avLst>
              <a:gd name="adj" fmla="val 1023"/>
            </a:avLst>
          </a:prstGeom>
          <a:solidFill>
            <a:srgbClr val="FFFFFF"/>
          </a:solidFill>
          <a:ln w="12700">
            <a:solidFill>
              <a:srgbClr val="BFE6CC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444898" y="1508760"/>
            <a:ext cx="384048" cy="384048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44489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4929530" y="14813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Network  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(6–18 months)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4929530" y="1755648"/>
            <a:ext cx="28446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Grow across suppliers and districts.</a:t>
            </a:r>
            <a:endParaRPr lang="en-US" sz="95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0386" y="2121408"/>
            <a:ext cx="384048" cy="38404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4627778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Distributors</a:t>
            </a:r>
            <a:endParaRPr lang="en-US" sz="800" dirty="0"/>
          </a:p>
        </p:txBody>
      </p:sp>
      <p:sp>
        <p:nvSpPr>
          <p:cNvPr id="33" name="Text 27"/>
          <p:cNvSpPr txBox="1"/>
          <p:nvPr/>
        </p:nvSpPr>
        <p:spPr>
          <a:xfrm>
            <a:off x="5496458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9099" y="2121408"/>
            <a:ext cx="384048" cy="384048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5606491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More shops</a:t>
            </a:r>
            <a:endParaRPr lang="en-US" sz="800" dirty="0"/>
          </a:p>
        </p:txBody>
      </p:sp>
      <p:sp>
        <p:nvSpPr>
          <p:cNvPr id="36" name="Text 29"/>
          <p:cNvSpPr txBox="1"/>
          <p:nvPr/>
        </p:nvSpPr>
        <p:spPr>
          <a:xfrm>
            <a:off x="6475171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7812" y="2121408"/>
            <a:ext cx="384048" cy="384048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6585204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Passports</a:t>
            </a:r>
            <a:endParaRPr lang="en-US" sz="800" dirty="0"/>
          </a:p>
        </p:txBody>
      </p:sp>
      <p:sp>
        <p:nvSpPr>
          <p:cNvPr id="39" name="Shape 31"/>
          <p:cNvSpPr/>
          <p:nvPr/>
        </p:nvSpPr>
        <p:spPr>
          <a:xfrm>
            <a:off x="4417466" y="2834640"/>
            <a:ext cx="3356762" cy="14630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4536338" y="2889504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Key Actions</a:t>
            </a:r>
            <a:endParaRPr lang="en-US" sz="1000" dirty="0"/>
          </a:p>
        </p:txBody>
      </p:sp>
      <p:sp>
        <p:nvSpPr>
          <p:cNvPr id="41" name="Text 33"/>
          <p:cNvSpPr txBox="1"/>
          <p:nvPr/>
        </p:nvSpPr>
        <p:spPr>
          <a:xfrm>
            <a:off x="4536338" y="3154680"/>
            <a:ext cx="31647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Distributor programmes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Bangla interface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Passports with 3+ lenders</a:t>
            </a:r>
            <a:endParaRPr lang="en-US" sz="1150" dirty="0"/>
          </a:p>
        </p:txBody>
      </p:sp>
      <p:sp>
        <p:nvSpPr>
          <p:cNvPr id="42" name="Shape 34"/>
          <p:cNvSpPr/>
          <p:nvPr/>
        </p:nvSpPr>
        <p:spPr>
          <a:xfrm>
            <a:off x="4417466" y="4389120"/>
            <a:ext cx="3356762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4536338" y="4434840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Success Metrics (targets)</a:t>
            </a:r>
            <a:endParaRPr lang="en-US" sz="1000" dirty="0"/>
          </a:p>
        </p:txBody>
      </p:sp>
      <p:sp>
        <p:nvSpPr>
          <p:cNvPr id="44" name="Text 36"/>
          <p:cNvSpPr txBox="1"/>
          <p:nvPr/>
        </p:nvSpPr>
        <p:spPr>
          <a:xfrm>
            <a:off x="4536338" y="4681728"/>
            <a:ext cx="31647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500+ pharmacies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3+ distributors</a:t>
            </a:r>
            <a:endParaRPr lang="en-US" sz="1150" dirty="0"/>
          </a:p>
        </p:txBody>
      </p:sp>
      <p:sp>
        <p:nvSpPr>
          <p:cNvPr id="45" name="Shape 37"/>
          <p:cNvSpPr/>
          <p:nvPr/>
        </p:nvSpPr>
        <p:spPr>
          <a:xfrm>
            <a:off x="7920533" y="3337560"/>
            <a:ext cx="155448" cy="182880"/>
          </a:xfrm>
          <a:prstGeom prst="rightArrow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8112557" y="1371600"/>
            <a:ext cx="3576218" cy="4114800"/>
          </a:xfrm>
          <a:prstGeom prst="roundRect">
            <a:avLst>
              <a:gd name="adj" fmla="val 1023"/>
            </a:avLst>
          </a:prstGeom>
          <a:solidFill>
            <a:srgbClr val="FFFFFF"/>
          </a:solidFill>
          <a:ln w="12700">
            <a:solidFill>
              <a:srgbClr val="BFE6CC"/>
            </a:solidFill>
            <a:prstDash val="solid"/>
          </a:ln>
        </p:spPr>
      </p:sp>
      <p:sp>
        <p:nvSpPr>
          <p:cNvPr id="47" name="Shape 39"/>
          <p:cNvSpPr/>
          <p:nvPr/>
        </p:nvSpPr>
        <p:spPr>
          <a:xfrm>
            <a:off x="8249717" y="1508760"/>
            <a:ext cx="384048" cy="384048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8249717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3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8734349" y="14813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Scale  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(18–36 months)</a:t>
            </a:r>
            <a:endParaRPr lang="en-US" sz="1400" dirty="0"/>
          </a:p>
        </p:txBody>
      </p:sp>
      <p:sp>
        <p:nvSpPr>
          <p:cNvPr id="50" name="Text 42"/>
          <p:cNvSpPr txBox="1"/>
          <p:nvPr/>
        </p:nvSpPr>
        <p:spPr>
          <a:xfrm>
            <a:off x="8734349" y="1755648"/>
            <a:ext cx="28446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Become the neutral finance layer for pharmacies.</a:t>
            </a:r>
            <a:endParaRPr lang="en-US" sz="950" dirty="0"/>
          </a:p>
        </p:txBody>
      </p:sp>
      <p:pic>
        <p:nvPicPr>
          <p:cNvPr id="5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25205" y="2121408"/>
            <a:ext cx="384048" cy="384048"/>
          </a:xfrm>
          <a:prstGeom prst="rect">
            <a:avLst/>
          </a:prstGeom>
        </p:spPr>
      </p:pic>
      <p:sp>
        <p:nvSpPr>
          <p:cNvPr id="52" name="Text 43"/>
          <p:cNvSpPr txBox="1"/>
          <p:nvPr/>
        </p:nvSpPr>
        <p:spPr>
          <a:xfrm>
            <a:off x="8432597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Banks</a:t>
            </a:r>
            <a:endParaRPr lang="en-US" sz="800" dirty="0"/>
          </a:p>
        </p:txBody>
      </p:sp>
      <p:sp>
        <p:nvSpPr>
          <p:cNvPr id="53" name="Text 44"/>
          <p:cNvSpPr txBox="1"/>
          <p:nvPr/>
        </p:nvSpPr>
        <p:spPr>
          <a:xfrm>
            <a:off x="9301277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5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03918" y="2121408"/>
            <a:ext cx="384048" cy="384048"/>
          </a:xfrm>
          <a:prstGeom prst="rect">
            <a:avLst/>
          </a:prstGeom>
        </p:spPr>
      </p:pic>
      <p:sp>
        <p:nvSpPr>
          <p:cNvPr id="55" name="Text 45"/>
          <p:cNvSpPr txBox="1"/>
          <p:nvPr/>
        </p:nvSpPr>
        <p:spPr>
          <a:xfrm>
            <a:off x="9411310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Shared risk</a:t>
            </a:r>
            <a:endParaRPr lang="en-US" sz="800" dirty="0"/>
          </a:p>
        </p:txBody>
      </p:sp>
      <p:sp>
        <p:nvSpPr>
          <p:cNvPr id="56" name="Text 46"/>
          <p:cNvSpPr txBox="1"/>
          <p:nvPr/>
        </p:nvSpPr>
        <p:spPr>
          <a:xfrm>
            <a:off x="10279990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5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82630" y="2121408"/>
            <a:ext cx="384048" cy="384048"/>
          </a:xfrm>
          <a:prstGeom prst="rect">
            <a:avLst/>
          </a:prstGeom>
        </p:spPr>
      </p:pic>
      <p:sp>
        <p:nvSpPr>
          <p:cNvPr id="58" name="Text 47"/>
          <p:cNvSpPr txBox="1"/>
          <p:nvPr/>
        </p:nvSpPr>
        <p:spPr>
          <a:xfrm>
            <a:off x="10390022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Nationwide</a:t>
            </a:r>
            <a:endParaRPr lang="en-US" sz="800" dirty="0"/>
          </a:p>
        </p:txBody>
      </p:sp>
      <p:sp>
        <p:nvSpPr>
          <p:cNvPr id="59" name="Shape 48"/>
          <p:cNvSpPr/>
          <p:nvPr/>
        </p:nvSpPr>
        <p:spPr>
          <a:xfrm>
            <a:off x="8222285" y="2834640"/>
            <a:ext cx="3356762" cy="14630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60" name="Text 49"/>
          <p:cNvSpPr txBox="1"/>
          <p:nvPr/>
        </p:nvSpPr>
        <p:spPr>
          <a:xfrm>
            <a:off x="8341157" y="2889504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Key Actions</a:t>
            </a:r>
            <a:endParaRPr lang="en-US" sz="1000" dirty="0"/>
          </a:p>
        </p:txBody>
      </p:sp>
      <p:sp>
        <p:nvSpPr>
          <p:cNvPr id="61" name="Text 50"/>
          <p:cNvSpPr txBox="1"/>
          <p:nvPr/>
        </p:nvSpPr>
        <p:spPr>
          <a:xfrm>
            <a:off x="8341157" y="3154680"/>
            <a:ext cx="31647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Bank supplier-credit product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Federated risk model across lenders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Nationwide rollout</a:t>
            </a:r>
            <a:endParaRPr lang="en-US" sz="1150" dirty="0"/>
          </a:p>
        </p:txBody>
      </p:sp>
      <p:sp>
        <p:nvSpPr>
          <p:cNvPr id="62" name="Shape 51"/>
          <p:cNvSpPr/>
          <p:nvPr/>
        </p:nvSpPr>
        <p:spPr>
          <a:xfrm>
            <a:off x="8222285" y="4389120"/>
            <a:ext cx="3356762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63" name="Text 52"/>
          <p:cNvSpPr txBox="1"/>
          <p:nvPr/>
        </p:nvSpPr>
        <p:spPr>
          <a:xfrm>
            <a:off x="8341157" y="4434840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Success Metrics (targets)</a:t>
            </a:r>
            <a:endParaRPr lang="en-US" sz="1000" dirty="0"/>
          </a:p>
        </p:txBody>
      </p:sp>
      <p:sp>
        <p:nvSpPr>
          <p:cNvPr id="64" name="Text 53"/>
          <p:cNvSpPr txBox="1"/>
          <p:nvPr/>
        </p:nvSpPr>
        <p:spPr>
          <a:xfrm>
            <a:off x="8341157" y="4681728"/>
            <a:ext cx="31647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5,000+ pharmacies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BDT 100M+ financed</a:t>
            </a:r>
            <a:endParaRPr lang="en-US" sz="1150" dirty="0"/>
          </a:p>
        </p:txBody>
      </p:sp>
      <p:sp>
        <p:nvSpPr>
          <p:cNvPr id="65" name="Shape 54"/>
          <p:cNvSpPr/>
          <p:nvPr/>
        </p:nvSpPr>
        <p:spPr>
          <a:xfrm>
            <a:off x="502920" y="5623560"/>
            <a:ext cx="11185855" cy="868680"/>
          </a:xfrm>
          <a:prstGeom prst="roundRect">
            <a:avLst>
              <a:gd name="adj" fmla="val 4211"/>
            </a:avLst>
          </a:prstGeom>
          <a:solidFill>
            <a:srgbClr val="F4FBF6"/>
          </a:solidFill>
          <a:ln w="12700">
            <a:solidFill>
              <a:srgbClr val="BFE6CC"/>
            </a:solidFill>
            <a:prstDash val="solid"/>
          </a:ln>
        </p:spPr>
      </p:sp>
      <p:sp>
        <p:nvSpPr>
          <p:cNvPr id="66" name="Text 55"/>
          <p:cNvSpPr txBox="1"/>
          <p:nvPr/>
        </p:nvSpPr>
        <p:spPr>
          <a:xfrm>
            <a:off x="685800" y="56692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Long-Term Impact</a:t>
            </a:r>
            <a:endParaRPr lang="en-US" sz="1300" dirty="0"/>
          </a:p>
        </p:txBody>
      </p:sp>
      <p:pic>
        <p:nvPicPr>
          <p:cNvPr id="6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0" y="5833872"/>
            <a:ext cx="384048" cy="384048"/>
          </a:xfrm>
          <a:prstGeom prst="rect">
            <a:avLst/>
          </a:prstGeom>
        </p:spPr>
      </p:pic>
      <p:sp>
        <p:nvSpPr>
          <p:cNvPr id="68" name="Text 56"/>
          <p:cNvSpPr txBox="1"/>
          <p:nvPr/>
        </p:nvSpPr>
        <p:spPr>
          <a:xfrm>
            <a:off x="3657600" y="5669280"/>
            <a:ext cx="160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Bankable pharmacies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Verified records replace missing collateral</a:t>
            </a:r>
            <a:endParaRPr lang="en-US" sz="1000" dirty="0"/>
          </a:p>
        </p:txBody>
      </p:sp>
      <p:pic>
        <p:nvPicPr>
          <p:cNvPr id="6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11064" y="5833872"/>
            <a:ext cx="384048" cy="384048"/>
          </a:xfrm>
          <a:prstGeom prst="rect">
            <a:avLst/>
          </a:prstGeom>
        </p:spPr>
      </p:pic>
      <p:sp>
        <p:nvSpPr>
          <p:cNvPr id="70" name="Text 57"/>
          <p:cNvSpPr txBox="1"/>
          <p:nvPr/>
        </p:nvSpPr>
        <p:spPr>
          <a:xfrm>
            <a:off x="5768264" y="5669280"/>
            <a:ext cx="160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Less expired medicine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Orders sized on what will sell</a:t>
            </a:r>
            <a:endParaRPr lang="en-US" sz="1000" dirty="0"/>
          </a:p>
        </p:txBody>
      </p:sp>
      <p:pic>
        <p:nvPicPr>
          <p:cNvPr id="71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21728" y="5833872"/>
            <a:ext cx="384048" cy="384048"/>
          </a:xfrm>
          <a:prstGeom prst="rect">
            <a:avLst/>
          </a:prstGeom>
        </p:spPr>
      </p:pic>
      <p:sp>
        <p:nvSpPr>
          <p:cNvPr id="72" name="Text 58"/>
          <p:cNvSpPr txBox="1"/>
          <p:nvPr/>
        </p:nvSpPr>
        <p:spPr>
          <a:xfrm>
            <a:off x="7878928" y="5669280"/>
            <a:ext cx="160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Cheaper finance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 cash first, cheapest credit last</a:t>
            </a:r>
            <a:endParaRPr lang="en-US" sz="1000" dirty="0"/>
          </a:p>
        </p:txBody>
      </p:sp>
      <p:pic>
        <p:nvPicPr>
          <p:cNvPr id="7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32391" y="5833872"/>
            <a:ext cx="384048" cy="384048"/>
          </a:xfrm>
          <a:prstGeom prst="rect">
            <a:avLst/>
          </a:prstGeom>
        </p:spPr>
      </p:pic>
      <p:sp>
        <p:nvSpPr>
          <p:cNvPr id="74" name="Text 59"/>
          <p:cNvSpPr txBox="1"/>
          <p:nvPr/>
        </p:nvSpPr>
        <p:spPr>
          <a:xfrm>
            <a:off x="9989591" y="5669280"/>
            <a:ext cx="160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Healthier Bangladesh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Fewer stock-outs, more medicine on shelves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pharmac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62000"/>
            </a:srgbClr>
          </a:solidFill>
          <a:ln w="12700">
            <a:solidFill>
              <a:srgbClr val="000000">
                <a:alpha val="62000"/>
              </a:srgbClr>
            </a:solidFill>
            <a:prstDash val="solid"/>
          </a:ln>
        </p:spPr>
      </p:sp>
      <p:pic>
        <p:nvPicPr>
          <p:cNvPr id="4" name="Image 1" descr="D:\Downloads\shenzhen\deck\assets\bc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4106" y="502920"/>
            <a:ext cx="1063483" cy="10972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731520" y="178308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Every pharmacy already has a </a:t>
            </a:r>
            <a:pPr algn="ctr" indent="0" marL="0">
              <a:buNone/>
            </a:pPr>
            <a:r>
              <a:rPr lang="en-US" sz="3600" dirty="0">
                <a:solidFill>
                  <a:srgbClr val="00BF63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credit history</a:t>
            </a:r>
            <a:pPr algn="ctr"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.</a:t>
            </a:r>
            <a:endParaRPr lang="en-US" sz="3600" dirty="0"/>
          </a:p>
        </p:txBody>
      </p:sp>
      <p:sp>
        <p:nvSpPr>
          <p:cNvPr id="6" name="Text 2"/>
          <p:cNvSpPr txBox="1"/>
          <p:nvPr/>
        </p:nvSpPr>
        <p:spPr>
          <a:xfrm>
            <a:off x="731520" y="2514600"/>
            <a:ext cx="10728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LaMP-Copilot puts it to work.</a:t>
            </a:r>
            <a:endParaRPr lang="en-US" sz="2600" dirty="0"/>
          </a:p>
        </p:txBody>
      </p:sp>
      <p:sp>
        <p:nvSpPr>
          <p:cNvPr id="7" name="Shape 3"/>
          <p:cNvSpPr/>
          <p:nvPr/>
        </p:nvSpPr>
        <p:spPr>
          <a:xfrm>
            <a:off x="1889608" y="3520440"/>
            <a:ext cx="8412480" cy="868680"/>
          </a:xfrm>
          <a:prstGeom prst="roundRect">
            <a:avLst>
              <a:gd name="adj" fmla="val 12632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2072488" y="352044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Our ask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Introductions to one partner lender and one distributor for a six-month pilot with 20 pharmacies in Bogura.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0" y="480060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0" y="562356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LaMP  ·  Ishmam Tahmid  ·  Farhan Tahsin Khan  ·  Pritom Roy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MP BCOLBD">
  <a:themeElements>
    <a:clrScheme name="LaMP BCOLBD">
      <a:dk1>
        <a:srgbClr val="231F20"/>
      </a:dk1>
      <a:lt1>
        <a:srgbClr val="FFFFFF"/>
      </a:lt1>
      <a:dk2>
        <a:srgbClr val="0F5132"/>
      </a:dk2>
      <a:lt2>
        <a:srgbClr val="E9F7EE"/>
      </a:lt2>
      <a:accent1>
        <a:srgbClr val="00BF63"/>
      </a:accent1>
      <a:accent2>
        <a:srgbClr val="198754"/>
      </a:accent2>
      <a:accent3>
        <a:srgbClr val="BD0000"/>
      </a:accent3>
      <a:accent4>
        <a:srgbClr val="6EF06E"/>
      </a:accent4>
      <a:accent5>
        <a:srgbClr val="2A7651"/>
      </a:accent5>
      <a:accent6>
        <a:srgbClr val="5A5A5A"/>
      </a:accent6>
      <a:hlink>
        <a:srgbClr val="198754"/>
      </a:hlink>
      <a:folHlink>
        <a:srgbClr val="0F5132"/>
      </a:folHlink>
    </a:clrScheme>
    <a:fontScheme name="LaMP BCOLBD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LaMP-Copilot</dc:title>
  <dc:subject>FinTechathon 2026, International Track, Topic E: SME Finance Copilot</dc:subject>
  <dc:creator>Team LaMP</dc:creator>
  <cp:lastModifiedBy>Team LaMP</cp:lastModifiedBy>
  <cp:revision>1</cp:revision>
  <dcterms:created xsi:type="dcterms:W3CDTF">2026-10-17T11:02:26Z</dcterms:created>
  <dcterms:modified xsi:type="dcterms:W3CDTF">2026-10-17T11:02:26Z</dcterms:modified>
</cp:coreProperties>
</file>